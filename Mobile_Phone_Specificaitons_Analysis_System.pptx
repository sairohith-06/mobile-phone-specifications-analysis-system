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0" r:id="rId37"/>
  </p:sldIdLst>
  <p:sldSz cx="18288000" cy="10287000"/>
  <p:notesSz cx="6858000" cy="9144000"/>
  <p:embeddedFontLst>
    <p:embeddedFont>
      <p:font typeface="Algerian" panose="04020705040A02060702" pitchFamily="82" charset="0"/>
      <p:regular r:id="rId38"/>
    </p:embeddedFont>
    <p:embeddedFont>
      <p:font typeface="Aptos Bold" panose="020B0004020202020204" charset="0"/>
      <p:regular r:id="rId39"/>
    </p:embeddedFont>
    <p:embeddedFont>
      <p:font typeface="Atkinson Hyperlegible" panose="020B0604020202020204" charset="0"/>
      <p:regular r:id="rId40"/>
    </p:embeddedFont>
    <p:embeddedFont>
      <p:font typeface="Atkinson Hyperlegible Bold" panose="020B0604020202020204" charset="0"/>
      <p:regular r:id="rId41"/>
    </p:embeddedFont>
    <p:embeddedFont>
      <p:font typeface="Canva Sans" panose="020B0604020202020204" charset="0"/>
      <p:regular r:id="rId42"/>
    </p:embeddedFont>
    <p:embeddedFont>
      <p:font typeface="Canva Sans Bold" panose="020B0604020202020204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F0847-2F36-430F-A831-76EEEE40D4DD}" v="1" dt="2026-09-30T15:45:02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Nageswari" userId="426507e1de0f65ba" providerId="LiveId" clId="{A8DA84C8-4558-4739-9036-BFC96639A021}"/>
    <pc:docChg chg="undo custSel modSld">
      <pc:chgData name="Monika Nageswari" userId="426507e1de0f65ba" providerId="LiveId" clId="{A8DA84C8-4558-4739-9036-BFC96639A021}" dt="2026-09-30T15:49:35.942" v="40" actId="2711"/>
      <pc:docMkLst>
        <pc:docMk/>
      </pc:docMkLst>
      <pc:sldChg chg="modSp mod">
        <pc:chgData name="Monika Nageswari" userId="426507e1de0f65ba" providerId="LiveId" clId="{A8DA84C8-4558-4739-9036-BFC96639A021}" dt="2026-09-30T15:44:33.683" v="28" actId="1076"/>
        <pc:sldMkLst>
          <pc:docMk/>
          <pc:sldMk cId="0" sldId="265"/>
        </pc:sldMkLst>
        <pc:spChg chg="mod">
          <ac:chgData name="Monika Nageswari" userId="426507e1de0f65ba" providerId="LiveId" clId="{A8DA84C8-4558-4739-9036-BFC96639A021}" dt="2026-09-30T15:44:04.527" v="21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onika Nageswari" userId="426507e1de0f65ba" providerId="LiveId" clId="{A8DA84C8-4558-4739-9036-BFC96639A021}" dt="2026-09-30T15:44:20.777" v="24" actId="1076"/>
          <ac:spMkLst>
            <pc:docMk/>
            <pc:sldMk cId="0" sldId="265"/>
            <ac:spMk id="123" creationId="{00000000-0000-0000-0000-000000000000}"/>
          </ac:spMkLst>
        </pc:spChg>
        <pc:spChg chg="mod">
          <ac:chgData name="Monika Nageswari" userId="426507e1de0f65ba" providerId="LiveId" clId="{A8DA84C8-4558-4739-9036-BFC96639A021}" dt="2026-09-30T15:44:29.826" v="27" actId="1076"/>
          <ac:spMkLst>
            <pc:docMk/>
            <pc:sldMk cId="0" sldId="265"/>
            <ac:spMk id="124" creationId="{00000000-0000-0000-0000-000000000000}"/>
          </ac:spMkLst>
        </pc:spChg>
        <pc:spChg chg="mod">
          <ac:chgData name="Monika Nageswari" userId="426507e1de0f65ba" providerId="LiveId" clId="{A8DA84C8-4558-4739-9036-BFC96639A021}" dt="2026-09-30T15:44:33.683" v="28" actId="1076"/>
          <ac:spMkLst>
            <pc:docMk/>
            <pc:sldMk cId="0" sldId="265"/>
            <ac:spMk id="125" creationId="{00000000-0000-0000-0000-000000000000}"/>
          </ac:spMkLst>
        </pc:spChg>
        <pc:grpChg chg="mod">
          <ac:chgData name="Monika Nageswari" userId="426507e1de0f65ba" providerId="LiveId" clId="{A8DA84C8-4558-4739-9036-BFC96639A021}" dt="2026-09-30T15:44:25.532" v="26" actId="1076"/>
          <ac:grpSpMkLst>
            <pc:docMk/>
            <pc:sldMk cId="0" sldId="265"/>
            <ac:grpSpMk id="8" creationId="{00000000-0000-0000-0000-000000000000}"/>
          </ac:grpSpMkLst>
        </pc:grpChg>
        <pc:grpChg chg="mod">
          <ac:chgData name="Monika Nageswari" userId="426507e1de0f65ba" providerId="LiveId" clId="{A8DA84C8-4558-4739-9036-BFC96639A021}" dt="2026-09-30T15:43:44.839" v="17" actId="14100"/>
          <ac:grpSpMkLst>
            <pc:docMk/>
            <pc:sldMk cId="0" sldId="265"/>
            <ac:grpSpMk id="23" creationId="{00000000-0000-0000-0000-000000000000}"/>
          </ac:grpSpMkLst>
        </pc:grpChg>
        <pc:grpChg chg="mod">
          <ac:chgData name="Monika Nageswari" userId="426507e1de0f65ba" providerId="LiveId" clId="{A8DA84C8-4558-4739-9036-BFC96639A021}" dt="2026-09-30T15:44:00.528" v="20" actId="1076"/>
          <ac:grpSpMkLst>
            <pc:docMk/>
            <pc:sldMk cId="0" sldId="265"/>
            <ac:grpSpMk id="41" creationId="{00000000-0000-0000-0000-000000000000}"/>
          </ac:grpSpMkLst>
        </pc:grpChg>
      </pc:sldChg>
      <pc:sldChg chg="modSp mod">
        <pc:chgData name="Monika Nageswari" userId="426507e1de0f65ba" providerId="LiveId" clId="{A8DA84C8-4558-4739-9036-BFC96639A021}" dt="2026-09-30T15:42:59.040" v="7" actId="20577"/>
        <pc:sldMkLst>
          <pc:docMk/>
          <pc:sldMk cId="0" sldId="275"/>
        </pc:sldMkLst>
        <pc:spChg chg="mod">
          <ac:chgData name="Monika Nageswari" userId="426507e1de0f65ba" providerId="LiveId" clId="{A8DA84C8-4558-4739-9036-BFC96639A021}" dt="2026-09-30T15:42:59.040" v="7" actId="20577"/>
          <ac:spMkLst>
            <pc:docMk/>
            <pc:sldMk cId="0" sldId="275"/>
            <ac:spMk id="10" creationId="{00000000-0000-0000-0000-000000000000}"/>
          </ac:spMkLst>
        </pc:spChg>
      </pc:sldChg>
      <pc:sldChg chg="addSp delSp modSp mod">
        <pc:chgData name="Monika Nageswari" userId="426507e1de0f65ba" providerId="LiveId" clId="{A8DA84C8-4558-4739-9036-BFC96639A021}" dt="2026-09-30T15:45:21.341" v="36"/>
        <pc:sldMkLst>
          <pc:docMk/>
          <pc:sldMk cId="0" sldId="276"/>
        </pc:sldMkLst>
        <pc:spChg chg="mod">
          <ac:chgData name="Monika Nageswari" userId="426507e1de0f65ba" providerId="LiveId" clId="{A8DA84C8-4558-4739-9036-BFC96639A021}" dt="2026-09-30T15:44:53.985" v="29" actId="14100"/>
          <ac:spMkLst>
            <pc:docMk/>
            <pc:sldMk cId="0" sldId="276"/>
            <ac:spMk id="9" creationId="{00000000-0000-0000-0000-000000000000}"/>
          </ac:spMkLst>
        </pc:spChg>
        <pc:spChg chg="mod">
          <ac:chgData name="Monika Nageswari" userId="426507e1de0f65ba" providerId="LiveId" clId="{A8DA84C8-4558-4739-9036-BFC96639A021}" dt="2026-09-30T15:45:20.584" v="34" actId="14100"/>
          <ac:spMkLst>
            <pc:docMk/>
            <pc:sldMk cId="0" sldId="276"/>
            <ac:spMk id="11" creationId="{00000000-0000-0000-0000-000000000000}"/>
          </ac:spMkLst>
        </pc:spChg>
        <pc:spChg chg="add del mod">
          <ac:chgData name="Monika Nageswari" userId="426507e1de0f65ba" providerId="LiveId" clId="{A8DA84C8-4558-4739-9036-BFC96639A021}" dt="2026-09-30T15:45:21.341" v="36"/>
          <ac:spMkLst>
            <pc:docMk/>
            <pc:sldMk cId="0" sldId="276"/>
            <ac:spMk id="12" creationId="{8EFF6F7B-88DB-8C37-F40A-5B2E79766792}"/>
          </ac:spMkLst>
        </pc:spChg>
      </pc:sldChg>
      <pc:sldChg chg="modSp mod">
        <pc:chgData name="Monika Nageswari" userId="426507e1de0f65ba" providerId="LiveId" clId="{A8DA84C8-4558-4739-9036-BFC96639A021}" dt="2026-09-30T15:49:35.942" v="40" actId="2711"/>
        <pc:sldMkLst>
          <pc:docMk/>
          <pc:sldMk cId="0" sldId="290"/>
        </pc:sldMkLst>
        <pc:spChg chg="mod">
          <ac:chgData name="Monika Nageswari" userId="426507e1de0f65ba" providerId="LiveId" clId="{A8DA84C8-4558-4739-9036-BFC96639A021}" dt="2026-09-30T15:49:35.942" v="40" actId="2711"/>
          <ac:spMkLst>
            <pc:docMk/>
            <pc:sldMk cId="0" sldId="29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914" y="0"/>
            <a:ext cx="17436086" cy="9911328"/>
          </a:xfrm>
          <a:custGeom>
            <a:avLst/>
            <a:gdLst/>
            <a:ahLst/>
            <a:cxnLst/>
            <a:rect l="l" t="t" r="r" b="b"/>
            <a:pathLst>
              <a:path w="17436086" h="9911328">
                <a:moveTo>
                  <a:pt x="0" y="0"/>
                </a:moveTo>
                <a:lnTo>
                  <a:pt x="17436086" y="0"/>
                </a:lnTo>
                <a:lnTo>
                  <a:pt x="17436086" y="9911328"/>
                </a:lnTo>
                <a:lnTo>
                  <a:pt x="0" y="991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01" r="-4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627388" y="1629234"/>
            <a:ext cx="4343058" cy="5020877"/>
          </a:xfrm>
          <a:custGeom>
            <a:avLst/>
            <a:gdLst/>
            <a:ahLst/>
            <a:cxnLst/>
            <a:rect l="l" t="t" r="r" b="b"/>
            <a:pathLst>
              <a:path w="4343058" h="5020877">
                <a:moveTo>
                  <a:pt x="0" y="0"/>
                </a:moveTo>
                <a:lnTo>
                  <a:pt x="4343058" y="0"/>
                </a:lnTo>
                <a:lnTo>
                  <a:pt x="4343058" y="5020877"/>
                </a:lnTo>
                <a:lnTo>
                  <a:pt x="0" y="50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823781" y="396326"/>
            <a:ext cx="9803606" cy="85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3"/>
              </a:lnSpc>
              <a:spcBef>
                <a:spcPct val="0"/>
              </a:spcBef>
            </a:pPr>
            <a:r>
              <a:rPr lang="en-US" sz="4995" b="1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&amp; 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960526" y="2706399"/>
            <a:ext cx="12363680" cy="58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3"/>
              </a:lnSpc>
              <a:spcBef>
                <a:spcPct val="0"/>
              </a:spcBef>
            </a:pPr>
            <a:r>
              <a:rPr lang="en-US" sz="33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Smartphone Market &amp; Data Analytics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418027" y="4137045"/>
            <a:ext cx="15642402" cy="53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3"/>
              </a:lnSpc>
              <a:spcBef>
                <a:spcPct val="0"/>
              </a:spcBef>
            </a:pPr>
            <a:r>
              <a:rPr lang="en-US" sz="3195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Smartphones differ in brands, specifications, features and prices.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5212" y="3181361"/>
            <a:ext cx="304681" cy="149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73"/>
              </a:lnSpc>
              <a:spcBef>
                <a:spcPct val="0"/>
              </a:spcBef>
            </a:pPr>
            <a:r>
              <a:rPr lang="en-US" sz="86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558" y="3958697"/>
            <a:ext cx="341989" cy="166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63"/>
              </a:lnSpc>
              <a:spcBef>
                <a:spcPct val="0"/>
              </a:spcBef>
            </a:pPr>
            <a:r>
              <a:rPr lang="en-US" sz="97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6206" y="4960044"/>
            <a:ext cx="14005273" cy="53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3"/>
              </a:lnSpc>
              <a:spcBef>
                <a:spcPct val="0"/>
              </a:spcBef>
            </a:pPr>
            <a:r>
              <a:rPr lang="en-US" sz="3195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Important attributes include RAM, ROM, battery, camera, ratings and price.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496" y="4962525"/>
            <a:ext cx="341989" cy="166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63"/>
              </a:lnSpc>
              <a:spcBef>
                <a:spcPct val="0"/>
              </a:spcBef>
            </a:pPr>
            <a:r>
              <a:rPr lang="en-US" sz="97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2921" y="5964728"/>
            <a:ext cx="14446210" cy="392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Data analytics can be used to compare smartphones and identify useful patterns.</a:t>
            </a:r>
          </a:p>
          <a:p>
            <a:pPr algn="ctr">
              <a:lnSpc>
                <a:spcPts val="13663"/>
              </a:lnSpc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13663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4496" y="5966667"/>
            <a:ext cx="341989" cy="166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63"/>
              </a:lnSpc>
              <a:spcBef>
                <a:spcPct val="0"/>
              </a:spcBef>
            </a:pPr>
            <a:r>
              <a:rPr lang="en-US" sz="97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624077" y="6973961"/>
            <a:ext cx="2153615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Our project analyzes smartphone data to support data-driven comparison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78295">
            <a:off x="12658971" y="3952872"/>
            <a:ext cx="5246370" cy="5246370"/>
            <a:chOff x="0" y="0"/>
            <a:chExt cx="3282950" cy="3282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82950" cy="3282950"/>
            </a:xfrm>
            <a:custGeom>
              <a:avLst/>
              <a:gdLst/>
              <a:ahLst/>
              <a:cxnLst/>
              <a:rect l="l" t="t" r="r" b="b"/>
              <a:pathLst>
                <a:path w="3282950" h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691" r="-246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02418" y="166635"/>
            <a:ext cx="12116518" cy="86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4"/>
              </a:lnSpc>
              <a:spcBef>
                <a:spcPct val="0"/>
              </a:spcBef>
            </a:pPr>
            <a:r>
              <a:rPr lang="en-US" sz="5060" b="1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278" y="1637747"/>
            <a:ext cx="18229445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545F9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Consumers face difficulty in comparing smartphones because different models have different  specifications, features, ratings and prices. Manual comparison of multiple attributes is time-consuming and may not provide a clear data-driven view of which phones offer better value.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629079" y="3899617"/>
            <a:ext cx="778269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Our project addresses this by: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23333" y="4854022"/>
            <a:ext cx="98333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Organizing smartphone specification data.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23333" y="5782392"/>
            <a:ext cx="11553187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Cleaning and preparing the data.</a:t>
            </a:r>
          </a:p>
          <a:p>
            <a:pPr algn="ctr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223333" y="6584715"/>
            <a:ext cx="1302020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Comparing important smartphone attributes.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223333" y="7387037"/>
            <a:ext cx="1257724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Analyzing relationships between specifications and price.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223333" y="8158480"/>
            <a:ext cx="1362708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Identifying better-value options based on selected criteria.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-621287"/>
            <a:ext cx="0" cy="10908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609032" y="184149"/>
            <a:ext cx="8464088" cy="84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473E38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685" y="2745323"/>
            <a:ext cx="8913852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Analysing smartphone specifications and prices.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11" y="2100797"/>
            <a:ext cx="8231264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Analyze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9238" y="4846003"/>
            <a:ext cx="3892459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-34815" y="3543760"/>
            <a:ext cx="6974264" cy="55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8284" lvl="1" indent="-354142" algn="l">
              <a:lnSpc>
                <a:spcPts val="4592"/>
              </a:lnSpc>
              <a:buFont typeface="Arial"/>
              <a:buChar char="•"/>
            </a:pPr>
            <a:r>
              <a:rPr lang="en-US" sz="3280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 Compare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827187" y="4241483"/>
            <a:ext cx="1306267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Comparing Smartphones based on important attributes.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4815" y="4836478"/>
            <a:ext cx="5450828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Perform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3767446" y="5605780"/>
            <a:ext cx="1576156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Brand-wise and price-range analysis.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299850" y="6831330"/>
            <a:ext cx="126541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Relationships between specifications and price.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34815" y="6192520"/>
            <a:ext cx="811669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Study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7531100"/>
            <a:ext cx="10084461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020C4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Visualise</a:t>
            </a:r>
          </a:p>
          <a:p>
            <a:pPr algn="l">
              <a:lnSpc>
                <a:spcPts val="4480"/>
              </a:lnSpc>
            </a:pPr>
            <a:endParaRPr lang="en-US" sz="3300" b="1">
              <a:solidFill>
                <a:srgbClr val="020C45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-1520159" y="8131175"/>
            <a:ext cx="1691921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Identify smartphones offering better value based on selected criteria.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2802957" y="9050020"/>
            <a:ext cx="1613760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Present findings using meaningful data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4277" y="1028700"/>
            <a:ext cx="5022553" cy="8807883"/>
          </a:xfrm>
          <a:custGeom>
            <a:avLst/>
            <a:gdLst/>
            <a:ahLst/>
            <a:cxnLst/>
            <a:rect l="l" t="t" r="r" b="b"/>
            <a:pathLst>
              <a:path w="5022553" h="8807883">
                <a:moveTo>
                  <a:pt x="0" y="0"/>
                </a:moveTo>
                <a:lnTo>
                  <a:pt x="5022553" y="0"/>
                </a:lnTo>
                <a:lnTo>
                  <a:pt x="5022553" y="8807883"/>
                </a:lnTo>
                <a:lnTo>
                  <a:pt x="0" y="8807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1" r="-201" b="-36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515951" y="1578471"/>
            <a:ext cx="6217907" cy="7708340"/>
          </a:xfrm>
          <a:custGeom>
            <a:avLst/>
            <a:gdLst/>
            <a:ahLst/>
            <a:cxnLst/>
            <a:rect l="l" t="t" r="r" b="b"/>
            <a:pathLst>
              <a:path w="6217907" h="7708340">
                <a:moveTo>
                  <a:pt x="0" y="0"/>
                </a:moveTo>
                <a:lnTo>
                  <a:pt x="6217907" y="0"/>
                </a:lnTo>
                <a:lnTo>
                  <a:pt x="6217907" y="7708340"/>
                </a:lnTo>
                <a:lnTo>
                  <a:pt x="0" y="7708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48" r="-5973" b="-1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928965" y="1578471"/>
            <a:ext cx="5279596" cy="8163295"/>
          </a:xfrm>
          <a:custGeom>
            <a:avLst/>
            <a:gdLst/>
            <a:ahLst/>
            <a:cxnLst/>
            <a:rect l="l" t="t" r="r" b="b"/>
            <a:pathLst>
              <a:path w="5279596" h="8163295">
                <a:moveTo>
                  <a:pt x="0" y="0"/>
                </a:moveTo>
                <a:lnTo>
                  <a:pt x="5279596" y="0"/>
                </a:lnTo>
                <a:lnTo>
                  <a:pt x="5279596" y="8163295"/>
                </a:lnTo>
                <a:lnTo>
                  <a:pt x="0" y="81632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07" r="-9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30243" y="184149"/>
            <a:ext cx="17857757" cy="84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REAL WORLD EXAMPLE AND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354751" y="405966"/>
            <a:ext cx="9246657" cy="84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Dataset Selection &amp; Source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14239" y="1903685"/>
            <a:ext cx="6112815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Selected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7329820" y="3032066"/>
            <a:ext cx="2177270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2924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Mobile price prediction Dataset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401325" y="4017586"/>
            <a:ext cx="991571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Why did we select this dataset?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40669" y="5096487"/>
            <a:ext cx="1067848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Directly related to our project domain.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40669" y="6081957"/>
            <a:ext cx="1518014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Contains smartphone specifications and price information.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24597" y="7067427"/>
            <a:ext cx="15091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Contains numerical and categorical attributes.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224597" y="7957697"/>
            <a:ext cx="1374207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Suitable for data cleaning and preprocessing.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224597" y="8850210"/>
            <a:ext cx="1181779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Suitable for comparison and visualization.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5041" y="3032066"/>
            <a:ext cx="275238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1514" y="3032066"/>
            <a:ext cx="425181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2924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Kaggle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9404" y="3032066"/>
            <a:ext cx="705762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 the format of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23327" y="3032066"/>
            <a:ext cx="426569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2924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84149"/>
            <a:ext cx="16043930" cy="84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📊</a:t>
            </a:r>
            <a:r>
              <a:rPr lang="en-US" sz="4999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 DATASET UNDERSTANDING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4564546" y="1679476"/>
            <a:ext cx="1320463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DATASET SIZE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445698" y="2388771"/>
            <a:ext cx="848097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6A1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836 Records | 10 Columns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25009" y="3139708"/>
          <a:ext cx="15054472" cy="7134223"/>
        </p:xfrm>
        <a:graphic>
          <a:graphicData uri="http://schemas.openxmlformats.org/drawingml/2006/table">
            <a:tbl>
              <a:tblPr/>
              <a:tblGrid>
                <a:gridCol w="7527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7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3943"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Attribute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Brand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Smartphone manufacturer/brand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User/customer rating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RAM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Memory capacity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ROM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Internal storage capacity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Mobile Size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Size of the mobile device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Primary Camera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Main camera specification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Selfie Camera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 camera specification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Battery Power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Battery capacity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Smartphone price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902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Unnamed: 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Index/identifier column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645845" y="2541777"/>
            <a:ext cx="7344547" cy="6414758"/>
          </a:xfrm>
          <a:custGeom>
            <a:avLst/>
            <a:gdLst/>
            <a:ahLst/>
            <a:cxnLst/>
            <a:rect l="l" t="t" r="r" b="b"/>
            <a:pathLst>
              <a:path w="7344547" h="6414758">
                <a:moveTo>
                  <a:pt x="0" y="0"/>
                </a:moveTo>
                <a:lnTo>
                  <a:pt x="7344546" y="0"/>
                </a:lnTo>
                <a:lnTo>
                  <a:pt x="7344546" y="6414758"/>
                </a:lnTo>
                <a:lnTo>
                  <a:pt x="0" y="6414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22" b="-16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428916" y="530009"/>
            <a:ext cx="14027169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DATASET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949283" y="1977897"/>
            <a:ext cx="8409525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3F3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📱 </a:t>
            </a:r>
            <a:r>
              <a:rPr lang="en-US" sz="3300" b="1">
                <a:solidFill>
                  <a:srgbClr val="4A3F3A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DEVICE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499843" y="3576503"/>
            <a:ext cx="99573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⚙️ MEMORY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387285" y="5069242"/>
            <a:ext cx="805500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🔋 HARDWARE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3468132" y="6466840"/>
            <a:ext cx="989397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📷</a:t>
            </a: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CAMERA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387285" y="7961630"/>
            <a:ext cx="859167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⭐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8613775"/>
            <a:ext cx="295149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2058721" y="9201150"/>
            <a:ext cx="739787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💰</a:t>
            </a: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2580771" y="9681845"/>
            <a:ext cx="804101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Price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2494821" y="2790217"/>
            <a:ext cx="786911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Brand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727967" y="4322872"/>
            <a:ext cx="706712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RAM • ROM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1276038" y="5854736"/>
            <a:ext cx="916701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Mobile Size • Battery Power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-633131" y="7118985"/>
            <a:ext cx="87307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Primary Camera • Selfie Camera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0" y="-599530"/>
            <a:ext cx="79011" cy="108865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79011" y="10287000"/>
            <a:ext cx="18150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1235" y="3981919"/>
            <a:ext cx="10776025" cy="1370914"/>
          </a:xfrm>
          <a:custGeom>
            <a:avLst/>
            <a:gdLst/>
            <a:ahLst/>
            <a:cxnLst/>
            <a:rect l="l" t="t" r="r" b="b"/>
            <a:pathLst>
              <a:path w="10776025" h="1370914">
                <a:moveTo>
                  <a:pt x="0" y="0"/>
                </a:moveTo>
                <a:lnTo>
                  <a:pt x="10776025" y="0"/>
                </a:lnTo>
                <a:lnTo>
                  <a:pt x="10776025" y="1370914"/>
                </a:lnTo>
                <a:lnTo>
                  <a:pt x="0" y="1370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81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1889201" y="1650567"/>
            <a:ext cx="1018350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4A3F3A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 COLLECTION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4417729" y="1890915"/>
            <a:ext cx="19953953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Dataset Source → CSV File → Python → Pandas DataFrame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2709658" y="3255212"/>
            <a:ext cx="883808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 IMPORT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709658" y="4043680"/>
            <a:ext cx="1003642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import pandas as pd</a:t>
            </a:r>
          </a:p>
          <a:p>
            <a:pPr algn="ctr">
              <a:lnSpc>
                <a:spcPts val="4480"/>
              </a:lnSpc>
            </a:pPr>
            <a:endParaRPr lang="en-US" sz="3200">
              <a:solidFill>
                <a:srgbClr val="FF313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FF313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-2709658" y="4605655"/>
            <a:ext cx="1451293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data = pd.read_csv("mobile_phone_dataset.csv")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943780" y="5719914"/>
            <a:ext cx="907220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Initial Check</a:t>
            </a:r>
          </a:p>
        </p:txBody>
      </p:sp>
      <p:sp>
        <p:nvSpPr>
          <p:cNvPr id="14" name="Freeform 14"/>
          <p:cNvSpPr/>
          <p:nvPr/>
        </p:nvSpPr>
        <p:spPr>
          <a:xfrm>
            <a:off x="79011" y="6945464"/>
            <a:ext cx="10776025" cy="2091534"/>
          </a:xfrm>
          <a:custGeom>
            <a:avLst/>
            <a:gdLst/>
            <a:ahLst/>
            <a:cxnLst/>
            <a:rect l="l" t="t" r="r" b="b"/>
            <a:pathLst>
              <a:path w="10776025" h="2091534">
                <a:moveTo>
                  <a:pt x="0" y="0"/>
                </a:moveTo>
                <a:lnTo>
                  <a:pt x="10776025" y="0"/>
                </a:lnTo>
                <a:lnTo>
                  <a:pt x="10776025" y="2091534"/>
                </a:lnTo>
                <a:lnTo>
                  <a:pt x="0" y="2091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55" r="-35155" b="-430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2394328" y="7116914"/>
            <a:ext cx="694113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df.head()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2394328" y="7726291"/>
            <a:ext cx="67910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df.shape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3396410" y="8340336"/>
            <a:ext cx="879520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313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df.info()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4391" y="161073"/>
            <a:ext cx="18917031" cy="1029504"/>
            <a:chOff x="0" y="0"/>
            <a:chExt cx="25222708" cy="1372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22708" cy="1372678"/>
            </a:xfrm>
            <a:custGeom>
              <a:avLst/>
              <a:gdLst/>
              <a:ahLst/>
              <a:cxnLst/>
              <a:rect l="l" t="t" r="r" b="b"/>
              <a:pathLst>
                <a:path w="25222708" h="1372678">
                  <a:moveTo>
                    <a:pt x="0" y="0"/>
                  </a:moveTo>
                  <a:lnTo>
                    <a:pt x="25222708" y="0"/>
                  </a:lnTo>
                  <a:lnTo>
                    <a:pt x="2522270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59" r="12924" b="-261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5222708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42746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DATA CLEANING &amp; PREPROCESSING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3421" y="1400127"/>
            <a:ext cx="16060264" cy="592939"/>
            <a:chOff x="0" y="0"/>
            <a:chExt cx="21413686" cy="7905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13690" cy="790579"/>
            </a:xfrm>
            <a:custGeom>
              <a:avLst/>
              <a:gdLst/>
              <a:ahLst/>
              <a:cxnLst/>
              <a:rect l="l" t="t" r="r" b="b"/>
              <a:pathLst>
                <a:path w="21413690" h="790579">
                  <a:moveTo>
                    <a:pt x="0" y="0"/>
                  </a:moveTo>
                  <a:lnTo>
                    <a:pt x="21413690" y="0"/>
                  </a:lnTo>
                  <a:lnTo>
                    <a:pt x="21413690" y="790579"/>
                  </a:lnTo>
                  <a:lnTo>
                    <a:pt x="0" y="7905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6102" b="-4694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413686" cy="7905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82"/>
                </a:lnSpc>
              </a:pPr>
              <a:r>
                <a:rPr lang="en-US" sz="3151">
                  <a:solidFill>
                    <a:srgbClr val="556273"/>
                  </a:solidFill>
                  <a:latin typeface="Aptos"/>
                  <a:ea typeface="Aptos"/>
                  <a:cs typeface="Aptos"/>
                  <a:sym typeface="Aptos"/>
                </a:rPr>
                <a:t>Preparing smartphone data for reliable analysis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9872" y="2255377"/>
            <a:ext cx="4068451" cy="4892050"/>
            <a:chOff x="0" y="0"/>
            <a:chExt cx="5424602" cy="65227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4551" cy="6522720"/>
            </a:xfrm>
            <a:custGeom>
              <a:avLst/>
              <a:gdLst/>
              <a:ahLst/>
              <a:cxnLst/>
              <a:rect l="l" t="t" r="r" b="b"/>
              <a:pathLst>
                <a:path w="5424551" h="6522720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5618607"/>
                  </a:lnTo>
                  <a:cubicBezTo>
                    <a:pt x="5424551" y="6117971"/>
                    <a:pt x="5019802" y="6522720"/>
                    <a:pt x="4520438" y="6522720"/>
                  </a:cubicBezTo>
                  <a:lnTo>
                    <a:pt x="904113" y="6522720"/>
                  </a:lnTo>
                  <a:cubicBezTo>
                    <a:pt x="404749" y="6522720"/>
                    <a:pt x="0" y="6117971"/>
                    <a:pt x="0" y="5618607"/>
                  </a:cubicBezTo>
                  <a:close/>
                </a:path>
              </a:pathLst>
            </a:custGeom>
            <a:solidFill>
              <a:srgbClr val="F4F7FB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9314" y="2511990"/>
            <a:ext cx="768696" cy="768696"/>
            <a:chOff x="0" y="0"/>
            <a:chExt cx="1024928" cy="10249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90" h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2D63A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9314" y="2690441"/>
            <a:ext cx="768696" cy="301990"/>
            <a:chOff x="0" y="0"/>
            <a:chExt cx="1024928" cy="4026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929" cy="402651"/>
            </a:xfrm>
            <a:custGeom>
              <a:avLst/>
              <a:gdLst/>
              <a:ahLst/>
              <a:cxnLst/>
              <a:rect l="l" t="t" r="r" b="b"/>
              <a:pathLst>
                <a:path w="1024929" h="402651">
                  <a:moveTo>
                    <a:pt x="0" y="0"/>
                  </a:moveTo>
                  <a:lnTo>
                    <a:pt x="1024929" y="0"/>
                  </a:lnTo>
                  <a:lnTo>
                    <a:pt x="102492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5" r="-4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24928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39314" y="3472863"/>
            <a:ext cx="3555225" cy="933421"/>
            <a:chOff x="0" y="0"/>
            <a:chExt cx="4740300" cy="12445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40296" cy="1244556"/>
            </a:xfrm>
            <a:custGeom>
              <a:avLst/>
              <a:gdLst/>
              <a:ahLst/>
              <a:cxnLst/>
              <a:rect l="l" t="t" r="r" b="b"/>
              <a:pathLst>
                <a:path w="4740296" h="1244556">
                  <a:moveTo>
                    <a:pt x="0" y="0"/>
                  </a:moveTo>
                  <a:lnTo>
                    <a:pt x="4740296" y="0"/>
                  </a:lnTo>
                  <a:lnTo>
                    <a:pt x="4740296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14" b="-24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740300" cy="1244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MISSING VALUES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2328" y="4616377"/>
            <a:ext cx="3629196" cy="952481"/>
            <a:chOff x="0" y="0"/>
            <a:chExt cx="4838929" cy="12699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38954" cy="1270000"/>
            </a:xfrm>
            <a:custGeom>
              <a:avLst/>
              <a:gdLst/>
              <a:ahLst/>
              <a:cxnLst/>
              <a:rect l="l" t="t" r="r" b="b"/>
              <a:pathLst>
                <a:path w="4838954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4627245" y="0"/>
                  </a:lnTo>
                  <a:cubicBezTo>
                    <a:pt x="4744085" y="0"/>
                    <a:pt x="4838954" y="94742"/>
                    <a:pt x="4838954" y="211709"/>
                  </a:cubicBezTo>
                  <a:lnTo>
                    <a:pt x="4838954" y="1058291"/>
                  </a:lnTo>
                  <a:cubicBezTo>
                    <a:pt x="4838954" y="1175131"/>
                    <a:pt x="4744212" y="1270000"/>
                    <a:pt x="4627245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1676" y="4818078"/>
            <a:ext cx="3390500" cy="466706"/>
            <a:chOff x="0" y="0"/>
            <a:chExt cx="4520667" cy="6222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20668" cy="622278"/>
            </a:xfrm>
            <a:custGeom>
              <a:avLst/>
              <a:gdLst/>
              <a:ahLst/>
              <a:cxnLst/>
              <a:rect l="l" t="t" r="r" b="b"/>
              <a:pathLst>
                <a:path w="4520668" h="622278">
                  <a:moveTo>
                    <a:pt x="0" y="0"/>
                  </a:moveTo>
                  <a:lnTo>
                    <a:pt x="4520668" y="0"/>
                  </a:lnTo>
                  <a:lnTo>
                    <a:pt x="452066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553" b="-915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520667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2D63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data.isnull().sum()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295399" y="5652562"/>
            <a:ext cx="6019799" cy="294641"/>
            <a:chOff x="0" y="0"/>
            <a:chExt cx="8109603" cy="11896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006942" cy="1189652"/>
            </a:xfrm>
            <a:custGeom>
              <a:avLst/>
              <a:gdLst/>
              <a:ahLst/>
              <a:cxnLst/>
              <a:rect l="l" t="t" r="r" b="b"/>
              <a:pathLst>
                <a:path w="8006942" h="1189652">
                  <a:moveTo>
                    <a:pt x="0" y="0"/>
                  </a:moveTo>
                  <a:lnTo>
                    <a:pt x="8006942" y="0"/>
                  </a:lnTo>
                  <a:lnTo>
                    <a:pt x="8006942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640" r="40797" b="-276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52" y="610724"/>
              <a:ext cx="8006951" cy="524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 dirty="0">
                  <a:solidFill>
                    <a:srgbClr val="020C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Identified 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 b="1" dirty="0">
                  <a:solidFill>
                    <a:srgbClr val="020C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             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34073" y="2255377"/>
            <a:ext cx="4068451" cy="4892050"/>
            <a:chOff x="0" y="0"/>
            <a:chExt cx="5424602" cy="65227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24551" cy="6522720"/>
            </a:xfrm>
            <a:custGeom>
              <a:avLst/>
              <a:gdLst/>
              <a:ahLst/>
              <a:cxnLst/>
              <a:rect l="l" t="t" r="r" b="b"/>
              <a:pathLst>
                <a:path w="5424551" h="6522720">
                  <a:moveTo>
                    <a:pt x="0" y="904113"/>
                  </a:moveTo>
                  <a:cubicBezTo>
                    <a:pt x="0" y="404749"/>
                    <a:pt x="404749" y="0"/>
                    <a:pt x="904113" y="0"/>
                  </a:cubicBezTo>
                  <a:lnTo>
                    <a:pt x="4520438" y="0"/>
                  </a:lnTo>
                  <a:cubicBezTo>
                    <a:pt x="5019802" y="0"/>
                    <a:pt x="5424551" y="404749"/>
                    <a:pt x="5424551" y="904113"/>
                  </a:cubicBezTo>
                  <a:lnTo>
                    <a:pt x="5424551" y="5618607"/>
                  </a:lnTo>
                  <a:cubicBezTo>
                    <a:pt x="5424551" y="6117971"/>
                    <a:pt x="5019802" y="6522720"/>
                    <a:pt x="4520438" y="6522720"/>
                  </a:cubicBezTo>
                  <a:lnTo>
                    <a:pt x="904113" y="6522720"/>
                  </a:lnTo>
                  <a:cubicBezTo>
                    <a:pt x="404749" y="6522720"/>
                    <a:pt x="0" y="6117971"/>
                    <a:pt x="0" y="5618607"/>
                  </a:cubicBezTo>
                  <a:close/>
                </a:path>
              </a:pathLst>
            </a:custGeom>
            <a:solidFill>
              <a:srgbClr val="F4F7FB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90686" y="2511990"/>
            <a:ext cx="768696" cy="768696"/>
            <a:chOff x="0" y="0"/>
            <a:chExt cx="1024928" cy="10249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90" h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E891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90686" y="2690441"/>
            <a:ext cx="768696" cy="301990"/>
            <a:chOff x="0" y="0"/>
            <a:chExt cx="1024928" cy="4026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929" cy="402651"/>
            </a:xfrm>
            <a:custGeom>
              <a:avLst/>
              <a:gdLst/>
              <a:ahLst/>
              <a:cxnLst/>
              <a:rect l="l" t="t" r="r" b="b"/>
              <a:pathLst>
                <a:path w="1024929" h="402651">
                  <a:moveTo>
                    <a:pt x="0" y="0"/>
                  </a:moveTo>
                  <a:lnTo>
                    <a:pt x="1024929" y="0"/>
                  </a:lnTo>
                  <a:lnTo>
                    <a:pt x="102492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5" r="-4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024928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90686" y="3472863"/>
            <a:ext cx="3555225" cy="933421"/>
            <a:chOff x="0" y="0"/>
            <a:chExt cx="4740300" cy="124456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40296" cy="1244556"/>
            </a:xfrm>
            <a:custGeom>
              <a:avLst/>
              <a:gdLst/>
              <a:ahLst/>
              <a:cxnLst/>
              <a:rect l="l" t="t" r="r" b="b"/>
              <a:pathLst>
                <a:path w="4740296" h="1244556">
                  <a:moveTo>
                    <a:pt x="0" y="0"/>
                  </a:moveTo>
                  <a:lnTo>
                    <a:pt x="4740296" y="0"/>
                  </a:lnTo>
                  <a:lnTo>
                    <a:pt x="4740296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14" b="-242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740300" cy="1244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DUPLICATE VALUES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53701" y="4616377"/>
            <a:ext cx="3629196" cy="952481"/>
            <a:chOff x="0" y="0"/>
            <a:chExt cx="4838929" cy="12699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38954" cy="1270000"/>
            </a:xfrm>
            <a:custGeom>
              <a:avLst/>
              <a:gdLst/>
              <a:ahLst/>
              <a:cxnLst/>
              <a:rect l="l" t="t" r="r" b="b"/>
              <a:pathLst>
                <a:path w="4838954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4627245" y="0"/>
                  </a:lnTo>
                  <a:cubicBezTo>
                    <a:pt x="4744085" y="0"/>
                    <a:pt x="4838954" y="94742"/>
                    <a:pt x="4838954" y="211709"/>
                  </a:cubicBezTo>
                  <a:lnTo>
                    <a:pt x="4838954" y="1058291"/>
                  </a:lnTo>
                  <a:cubicBezTo>
                    <a:pt x="4838954" y="1175131"/>
                    <a:pt x="4744212" y="1270000"/>
                    <a:pt x="4627245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573049" y="4818078"/>
            <a:ext cx="3390500" cy="466706"/>
            <a:chOff x="0" y="0"/>
            <a:chExt cx="4520667" cy="6222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520668" cy="622278"/>
            </a:xfrm>
            <a:custGeom>
              <a:avLst/>
              <a:gdLst/>
              <a:ahLst/>
              <a:cxnLst/>
              <a:rect l="l" t="t" r="r" b="b"/>
              <a:pathLst>
                <a:path w="4520668" h="622278">
                  <a:moveTo>
                    <a:pt x="0" y="0"/>
                  </a:moveTo>
                  <a:lnTo>
                    <a:pt x="4520668" y="0"/>
                  </a:lnTo>
                  <a:lnTo>
                    <a:pt x="452066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1553" b="-915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520667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E891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data.duplicated().sum()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90686" y="5861314"/>
            <a:ext cx="3555225" cy="892235"/>
            <a:chOff x="0" y="0"/>
            <a:chExt cx="4740300" cy="11896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40296" cy="1189649"/>
            </a:xfrm>
            <a:custGeom>
              <a:avLst/>
              <a:gdLst/>
              <a:ahLst/>
              <a:cxnLst/>
              <a:rect l="l" t="t" r="r" b="b"/>
              <a:pathLst>
                <a:path w="4740296" h="1189649">
                  <a:moveTo>
                    <a:pt x="0" y="0"/>
                  </a:moveTo>
                  <a:lnTo>
                    <a:pt x="4740296" y="0"/>
                  </a:lnTo>
                  <a:lnTo>
                    <a:pt x="4740296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640" b="-276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4740300" cy="1189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5562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Identify → Remove if found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85446" y="2255377"/>
            <a:ext cx="3793912" cy="4892050"/>
            <a:chOff x="0" y="0"/>
            <a:chExt cx="5058550" cy="65227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058537" cy="6522720"/>
            </a:xfrm>
            <a:custGeom>
              <a:avLst/>
              <a:gdLst/>
              <a:ahLst/>
              <a:cxnLst/>
              <a:rect l="l" t="t" r="r" b="b"/>
              <a:pathLst>
                <a:path w="5058537" h="6522720">
                  <a:moveTo>
                    <a:pt x="0" y="843153"/>
                  </a:moveTo>
                  <a:cubicBezTo>
                    <a:pt x="0" y="377444"/>
                    <a:pt x="377444" y="0"/>
                    <a:pt x="843153" y="0"/>
                  </a:cubicBezTo>
                  <a:lnTo>
                    <a:pt x="4215384" y="0"/>
                  </a:lnTo>
                  <a:cubicBezTo>
                    <a:pt x="4680966" y="0"/>
                    <a:pt x="5058537" y="377444"/>
                    <a:pt x="5058537" y="843153"/>
                  </a:cubicBezTo>
                  <a:lnTo>
                    <a:pt x="5058537" y="5679567"/>
                  </a:lnTo>
                  <a:cubicBezTo>
                    <a:pt x="5058537" y="6145149"/>
                    <a:pt x="4681093" y="6522720"/>
                    <a:pt x="4215384" y="6522720"/>
                  </a:cubicBezTo>
                  <a:lnTo>
                    <a:pt x="843153" y="6522720"/>
                  </a:lnTo>
                  <a:cubicBezTo>
                    <a:pt x="377444" y="6522720"/>
                    <a:pt x="0" y="6145276"/>
                    <a:pt x="0" y="5679567"/>
                  </a:cubicBezTo>
                  <a:close/>
                </a:path>
              </a:pathLst>
            </a:custGeom>
            <a:solidFill>
              <a:srgbClr val="F4F7FB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842059" y="2511990"/>
            <a:ext cx="768696" cy="768696"/>
            <a:chOff x="0" y="0"/>
            <a:chExt cx="1024928" cy="10249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90" h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1427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842059" y="2690441"/>
            <a:ext cx="768696" cy="301990"/>
            <a:chOff x="0" y="0"/>
            <a:chExt cx="1024928" cy="40265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24929" cy="402651"/>
            </a:xfrm>
            <a:custGeom>
              <a:avLst/>
              <a:gdLst/>
              <a:ahLst/>
              <a:cxnLst/>
              <a:rect l="l" t="t" r="r" b="b"/>
              <a:pathLst>
                <a:path w="1024929" h="402651">
                  <a:moveTo>
                    <a:pt x="0" y="0"/>
                  </a:moveTo>
                  <a:lnTo>
                    <a:pt x="1024929" y="0"/>
                  </a:lnTo>
                  <a:lnTo>
                    <a:pt x="102492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5" r="-4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024928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842059" y="3472863"/>
            <a:ext cx="3280686" cy="933421"/>
            <a:chOff x="0" y="0"/>
            <a:chExt cx="4374248" cy="124456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374249" cy="1244556"/>
            </a:xfrm>
            <a:custGeom>
              <a:avLst/>
              <a:gdLst/>
              <a:ahLst/>
              <a:cxnLst/>
              <a:rect l="l" t="t" r="r" b="b"/>
              <a:pathLst>
                <a:path w="4374249" h="1244556">
                  <a:moveTo>
                    <a:pt x="0" y="0"/>
                  </a:moveTo>
                  <a:lnTo>
                    <a:pt x="4374249" y="0"/>
                  </a:lnTo>
                  <a:lnTo>
                    <a:pt x="4374249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483" b="-184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4374248" cy="1244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OUTLIERS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05073" y="4616377"/>
            <a:ext cx="3354657" cy="952481"/>
            <a:chOff x="0" y="0"/>
            <a:chExt cx="4472876" cy="12699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472940" cy="1270000"/>
            </a:xfrm>
            <a:custGeom>
              <a:avLst/>
              <a:gdLst/>
              <a:ahLst/>
              <a:cxnLst/>
              <a:rect l="l" t="t" r="r" b="b"/>
              <a:pathLst>
                <a:path w="4472940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4261231" y="0"/>
                  </a:lnTo>
                  <a:cubicBezTo>
                    <a:pt x="4378071" y="0"/>
                    <a:pt x="4472940" y="94742"/>
                    <a:pt x="4472940" y="211709"/>
                  </a:cubicBezTo>
                  <a:lnTo>
                    <a:pt x="4472940" y="1058291"/>
                  </a:lnTo>
                  <a:cubicBezTo>
                    <a:pt x="4472940" y="1175131"/>
                    <a:pt x="4378198" y="1270000"/>
                    <a:pt x="4261231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924421" y="4818078"/>
            <a:ext cx="3115970" cy="466706"/>
            <a:chOff x="0" y="0"/>
            <a:chExt cx="4154627" cy="62227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154622" cy="622278"/>
            </a:xfrm>
            <a:custGeom>
              <a:avLst/>
              <a:gdLst/>
              <a:ahLst/>
              <a:cxnLst/>
              <a:rect l="l" t="t" r="r" b="b"/>
              <a:pathLst>
                <a:path w="4154622" h="622278">
                  <a:moveTo>
                    <a:pt x="0" y="0"/>
                  </a:moveTo>
                  <a:lnTo>
                    <a:pt x="4154622" y="0"/>
                  </a:lnTo>
                  <a:lnTo>
                    <a:pt x="415462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091" b="-800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4154627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Numerical columns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42059" y="5861314"/>
            <a:ext cx="3280686" cy="892235"/>
            <a:chOff x="0" y="0"/>
            <a:chExt cx="4374248" cy="118964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374249" cy="1189649"/>
            </a:xfrm>
            <a:custGeom>
              <a:avLst/>
              <a:gdLst/>
              <a:ahLst/>
              <a:cxnLst/>
              <a:rect l="l" t="t" r="r" b="b"/>
              <a:pathLst>
                <a:path w="4374249" h="1189649">
                  <a:moveTo>
                    <a:pt x="0" y="0"/>
                  </a:moveTo>
                  <a:lnTo>
                    <a:pt x="4374249" y="0"/>
                  </a:lnTo>
                  <a:lnTo>
                    <a:pt x="4374249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645" b="-216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4374248" cy="1189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5562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Detect → Analyze → Handle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662289" y="2255377"/>
            <a:ext cx="3752736" cy="4892050"/>
            <a:chOff x="0" y="0"/>
            <a:chExt cx="5003648" cy="652273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003673" cy="6522847"/>
            </a:xfrm>
            <a:custGeom>
              <a:avLst/>
              <a:gdLst/>
              <a:ahLst/>
              <a:cxnLst/>
              <a:rect l="l" t="t" r="r" b="b"/>
              <a:pathLst>
                <a:path w="5003673" h="6522847">
                  <a:moveTo>
                    <a:pt x="0" y="834009"/>
                  </a:moveTo>
                  <a:cubicBezTo>
                    <a:pt x="0" y="373380"/>
                    <a:pt x="373380" y="0"/>
                    <a:pt x="834009" y="0"/>
                  </a:cubicBezTo>
                  <a:lnTo>
                    <a:pt x="4169664" y="0"/>
                  </a:lnTo>
                  <a:cubicBezTo>
                    <a:pt x="4630293" y="0"/>
                    <a:pt x="5003673" y="373380"/>
                    <a:pt x="5003673" y="834009"/>
                  </a:cubicBezTo>
                  <a:lnTo>
                    <a:pt x="5003673" y="5688838"/>
                  </a:lnTo>
                  <a:cubicBezTo>
                    <a:pt x="5003673" y="6149467"/>
                    <a:pt x="4630293" y="6522847"/>
                    <a:pt x="4169664" y="6522847"/>
                  </a:cubicBezTo>
                  <a:lnTo>
                    <a:pt x="834009" y="6522847"/>
                  </a:lnTo>
                  <a:cubicBezTo>
                    <a:pt x="373380" y="6522720"/>
                    <a:pt x="0" y="6149340"/>
                    <a:pt x="0" y="5688838"/>
                  </a:cubicBezTo>
                  <a:close/>
                </a:path>
              </a:pathLst>
            </a:custGeom>
            <a:solidFill>
              <a:srgbClr val="F4F7FB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918902" y="2511990"/>
            <a:ext cx="768696" cy="768696"/>
            <a:chOff x="0" y="0"/>
            <a:chExt cx="1024928" cy="10249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24890" cy="1024890"/>
            </a:xfrm>
            <a:custGeom>
              <a:avLst/>
              <a:gdLst/>
              <a:ahLst/>
              <a:cxnLst/>
              <a:rect l="l" t="t" r="r" b="b"/>
              <a:pathLst>
                <a:path w="1024890" h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37875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918902" y="2690441"/>
            <a:ext cx="768696" cy="301990"/>
            <a:chOff x="0" y="0"/>
            <a:chExt cx="1024928" cy="40265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24929" cy="402651"/>
            </a:xfrm>
            <a:custGeom>
              <a:avLst/>
              <a:gdLst/>
              <a:ahLst/>
              <a:cxnLst/>
              <a:rect l="l" t="t" r="r" b="b"/>
              <a:pathLst>
                <a:path w="1024929" h="402651">
                  <a:moveTo>
                    <a:pt x="0" y="0"/>
                  </a:moveTo>
                  <a:lnTo>
                    <a:pt x="1024929" y="0"/>
                  </a:lnTo>
                  <a:lnTo>
                    <a:pt x="102492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5" r="-4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024928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918902" y="3472863"/>
            <a:ext cx="3239510" cy="933421"/>
            <a:chOff x="0" y="0"/>
            <a:chExt cx="4319346" cy="124456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19343" cy="1244556"/>
            </a:xfrm>
            <a:custGeom>
              <a:avLst/>
              <a:gdLst/>
              <a:ahLst/>
              <a:cxnLst/>
              <a:rect l="l" t="t" r="r" b="b"/>
              <a:pathLst>
                <a:path w="4319343" h="1244556">
                  <a:moveTo>
                    <a:pt x="0" y="0"/>
                  </a:moveTo>
                  <a:lnTo>
                    <a:pt x="4319343" y="0"/>
                  </a:lnTo>
                  <a:lnTo>
                    <a:pt x="4319343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624" b="-176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4319346" cy="1244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TRANSFORMATION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881916" y="4616377"/>
            <a:ext cx="3313481" cy="952481"/>
            <a:chOff x="0" y="0"/>
            <a:chExt cx="4417974" cy="126997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418076" cy="1270000"/>
            </a:xfrm>
            <a:custGeom>
              <a:avLst/>
              <a:gdLst/>
              <a:ahLst/>
              <a:cxnLst/>
              <a:rect l="l" t="t" r="r" b="b"/>
              <a:pathLst>
                <a:path w="4418076" h="1270000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4206367" y="0"/>
                  </a:lnTo>
                  <a:cubicBezTo>
                    <a:pt x="4323207" y="0"/>
                    <a:pt x="4418076" y="94742"/>
                    <a:pt x="4418076" y="211709"/>
                  </a:cubicBezTo>
                  <a:lnTo>
                    <a:pt x="4418076" y="1058291"/>
                  </a:lnTo>
                  <a:cubicBezTo>
                    <a:pt x="4418076" y="1175131"/>
                    <a:pt x="4323334" y="1270000"/>
                    <a:pt x="4206367" y="1270000"/>
                  </a:cubicBezTo>
                  <a:lnTo>
                    <a:pt x="211709" y="1270000"/>
                  </a:lnTo>
                  <a:cubicBezTo>
                    <a:pt x="94742" y="1270000"/>
                    <a:pt x="0" y="1175258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1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001255" y="4818078"/>
            <a:ext cx="3074784" cy="466706"/>
            <a:chOff x="0" y="0"/>
            <a:chExt cx="4099712" cy="62227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99715" cy="622278"/>
            </a:xfrm>
            <a:custGeom>
              <a:avLst/>
              <a:gdLst/>
              <a:ahLst/>
              <a:cxnLst/>
              <a:rect l="l" t="t" r="r" b="b"/>
              <a:pathLst>
                <a:path w="4099715" h="622278">
                  <a:moveTo>
                    <a:pt x="0" y="0"/>
                  </a:moveTo>
                  <a:lnTo>
                    <a:pt x="4099715" y="0"/>
                  </a:lnTo>
                  <a:lnTo>
                    <a:pt x="40997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8372" b="-783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4099712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378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preparation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3918902" y="5861314"/>
            <a:ext cx="3239510" cy="892235"/>
            <a:chOff x="0" y="0"/>
            <a:chExt cx="4319346" cy="118964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319343" cy="1189649"/>
            </a:xfrm>
            <a:custGeom>
              <a:avLst/>
              <a:gdLst/>
              <a:ahLst/>
              <a:cxnLst/>
              <a:rect l="l" t="t" r="r" b="b"/>
              <a:pathLst>
                <a:path w="4319343" h="1189649">
                  <a:moveTo>
                    <a:pt x="0" y="0"/>
                  </a:moveTo>
                  <a:lnTo>
                    <a:pt x="4319343" y="0"/>
                  </a:lnTo>
                  <a:lnTo>
                    <a:pt x="4319343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45" b="-20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4319346" cy="1189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5562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Types → Formats → Transform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33421" y="7522245"/>
            <a:ext cx="3431677" cy="466706"/>
            <a:chOff x="0" y="0"/>
            <a:chExt cx="4575569" cy="6222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575575" cy="622278"/>
            </a:xfrm>
            <a:custGeom>
              <a:avLst/>
              <a:gdLst/>
              <a:ahLst/>
              <a:cxnLst/>
              <a:rect l="l" t="t" r="r" b="b"/>
              <a:pathLst>
                <a:path w="4575575" h="622278">
                  <a:moveTo>
                    <a:pt x="0" y="0"/>
                  </a:moveTo>
                  <a:lnTo>
                    <a:pt x="4575575" y="0"/>
                  </a:lnTo>
                  <a:lnTo>
                    <a:pt x="457557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272" b="-93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4575569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PREPROCESSING FLOW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51338" y="8226504"/>
            <a:ext cx="2421245" cy="870118"/>
            <a:chOff x="0" y="0"/>
            <a:chExt cx="3228327" cy="116015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228340" cy="1160272"/>
            </a:xfrm>
            <a:custGeom>
              <a:avLst/>
              <a:gdLst/>
              <a:ahLst/>
              <a:cxnLst/>
              <a:rect l="l" t="t" r="r" b="b"/>
              <a:pathLst>
                <a:path w="3228340" h="1160272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3034919" y="0"/>
                  </a:lnTo>
                  <a:cubicBezTo>
                    <a:pt x="3141726" y="0"/>
                    <a:pt x="3228340" y="86614"/>
                    <a:pt x="3228340" y="193421"/>
                  </a:cubicBezTo>
                  <a:lnTo>
                    <a:pt x="3228340" y="966851"/>
                  </a:lnTo>
                  <a:cubicBezTo>
                    <a:pt x="3228340" y="1073658"/>
                    <a:pt x="3141726" y="1160272"/>
                    <a:pt x="3034919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142746"/>
            </a:solidFill>
            <a:ln w="19065" cap="sq">
              <a:solidFill>
                <a:srgbClr val="14274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29500" y="8414480"/>
            <a:ext cx="2264912" cy="384353"/>
            <a:chOff x="0" y="0"/>
            <a:chExt cx="3019882" cy="51247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822" b="-648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DATA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568951" y="8441931"/>
            <a:ext cx="384353" cy="384353"/>
            <a:chOff x="0" y="0"/>
            <a:chExt cx="512470" cy="51247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4451652" y="8226504"/>
            <a:ext cx="2421245" cy="870118"/>
            <a:chOff x="0" y="0"/>
            <a:chExt cx="3228327" cy="116015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228340" cy="1160272"/>
            </a:xfrm>
            <a:custGeom>
              <a:avLst/>
              <a:gdLst/>
              <a:ahLst/>
              <a:cxnLst/>
              <a:rect l="l" t="t" r="r" b="b"/>
              <a:pathLst>
                <a:path w="3228340" h="1160272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3034919" y="0"/>
                  </a:lnTo>
                  <a:cubicBezTo>
                    <a:pt x="3141726" y="0"/>
                    <a:pt x="3228340" y="86614"/>
                    <a:pt x="3228340" y="193421"/>
                  </a:cubicBezTo>
                  <a:lnTo>
                    <a:pt x="3228340" y="966851"/>
                  </a:lnTo>
                  <a:cubicBezTo>
                    <a:pt x="3228340" y="1073658"/>
                    <a:pt x="3141726" y="1160272"/>
                    <a:pt x="3034919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2D63AA"/>
            </a:solidFill>
            <a:ln w="19065" cap="sq">
              <a:solidFill>
                <a:srgbClr val="2D63A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529823" y="8414480"/>
            <a:ext cx="2264912" cy="384353"/>
            <a:chOff x="0" y="0"/>
            <a:chExt cx="3019882" cy="51247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822" b="-648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069264" y="8441931"/>
            <a:ext cx="384353" cy="384353"/>
            <a:chOff x="0" y="0"/>
            <a:chExt cx="512470" cy="51247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951965" y="8226504"/>
            <a:ext cx="2421245" cy="870118"/>
            <a:chOff x="0" y="0"/>
            <a:chExt cx="3228327" cy="116015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228340" cy="1160272"/>
            </a:xfrm>
            <a:custGeom>
              <a:avLst/>
              <a:gdLst/>
              <a:ahLst/>
              <a:cxnLst/>
              <a:rect l="l" t="t" r="r" b="b"/>
              <a:pathLst>
                <a:path w="3228340" h="1160272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3034919" y="0"/>
                  </a:lnTo>
                  <a:cubicBezTo>
                    <a:pt x="3141726" y="0"/>
                    <a:pt x="3228340" y="86614"/>
                    <a:pt x="3228340" y="193421"/>
                  </a:cubicBezTo>
                  <a:lnTo>
                    <a:pt x="3228340" y="966851"/>
                  </a:lnTo>
                  <a:cubicBezTo>
                    <a:pt x="3228340" y="1073658"/>
                    <a:pt x="3141726" y="1160272"/>
                    <a:pt x="3034919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E89137"/>
            </a:solidFill>
            <a:ln w="19065" cap="sq">
              <a:solidFill>
                <a:srgbClr val="E8913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030137" y="8414480"/>
            <a:ext cx="2264912" cy="384353"/>
            <a:chOff x="0" y="0"/>
            <a:chExt cx="3019882" cy="51247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822" b="-648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569578" y="8441931"/>
            <a:ext cx="384353" cy="384353"/>
            <a:chOff x="0" y="0"/>
            <a:chExt cx="512470" cy="51247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1452279" y="8226504"/>
            <a:ext cx="2421245" cy="870118"/>
            <a:chOff x="0" y="0"/>
            <a:chExt cx="3228327" cy="116015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228340" cy="1160272"/>
            </a:xfrm>
            <a:custGeom>
              <a:avLst/>
              <a:gdLst/>
              <a:ahLst/>
              <a:cxnLst/>
              <a:rect l="l" t="t" r="r" b="b"/>
              <a:pathLst>
                <a:path w="3228340" h="1160272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3034919" y="0"/>
                  </a:lnTo>
                  <a:cubicBezTo>
                    <a:pt x="3141726" y="0"/>
                    <a:pt x="3228340" y="86614"/>
                    <a:pt x="3228340" y="193421"/>
                  </a:cubicBezTo>
                  <a:lnTo>
                    <a:pt x="3228340" y="966851"/>
                  </a:lnTo>
                  <a:cubicBezTo>
                    <a:pt x="3228340" y="1073658"/>
                    <a:pt x="3141726" y="1160272"/>
                    <a:pt x="3034919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37875F"/>
            </a:solidFill>
            <a:ln w="19065" cap="sq">
              <a:solidFill>
                <a:srgbClr val="3787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1530451" y="8414480"/>
            <a:ext cx="2264912" cy="384353"/>
            <a:chOff x="0" y="0"/>
            <a:chExt cx="3019882" cy="51247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822" b="-648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4069892" y="8441931"/>
            <a:ext cx="384353" cy="384353"/>
            <a:chOff x="0" y="0"/>
            <a:chExt cx="512470" cy="51247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4952593" y="8226504"/>
            <a:ext cx="2421245" cy="870118"/>
            <a:chOff x="0" y="0"/>
            <a:chExt cx="3228327" cy="1160158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228340" cy="1160272"/>
            </a:xfrm>
            <a:custGeom>
              <a:avLst/>
              <a:gdLst/>
              <a:ahLst/>
              <a:cxnLst/>
              <a:rect l="l" t="t" r="r" b="b"/>
              <a:pathLst>
                <a:path w="3228340" h="1160272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3034919" y="0"/>
                  </a:lnTo>
                  <a:cubicBezTo>
                    <a:pt x="3141726" y="0"/>
                    <a:pt x="3228340" y="86614"/>
                    <a:pt x="3228340" y="193421"/>
                  </a:cubicBezTo>
                  <a:lnTo>
                    <a:pt x="3228340" y="966851"/>
                  </a:lnTo>
                  <a:cubicBezTo>
                    <a:pt x="3228340" y="1073658"/>
                    <a:pt x="3141726" y="1160272"/>
                    <a:pt x="3034919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142746"/>
            </a:solidFill>
            <a:ln w="19065" cap="sq">
              <a:solidFill>
                <a:srgbClr val="14274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5030764" y="8414480"/>
            <a:ext cx="2264912" cy="384353"/>
            <a:chOff x="0" y="0"/>
            <a:chExt cx="3019882" cy="51247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019879" cy="512464"/>
            </a:xfrm>
            <a:custGeom>
              <a:avLst/>
              <a:gdLst/>
              <a:ahLst/>
              <a:cxnLst/>
              <a:rect l="l" t="t" r="r" b="b"/>
              <a:pathLst>
                <a:path w="3019879" h="512464">
                  <a:moveTo>
                    <a:pt x="0" y="0"/>
                  </a:moveTo>
                  <a:lnTo>
                    <a:pt x="3019879" y="0"/>
                  </a:lnTo>
                  <a:lnTo>
                    <a:pt x="301987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822" b="-648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READY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559951" y="7453608"/>
            <a:ext cx="4598451" cy="466706"/>
            <a:chOff x="0" y="0"/>
            <a:chExt cx="6131268" cy="622275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131270" cy="622278"/>
            </a:xfrm>
            <a:custGeom>
              <a:avLst/>
              <a:gdLst/>
              <a:ahLst/>
              <a:cxnLst/>
              <a:rect l="l" t="t" r="r" b="b"/>
              <a:pathLst>
                <a:path w="6131270" h="622278">
                  <a:moveTo>
                    <a:pt x="0" y="0"/>
                  </a:moveTo>
                  <a:lnTo>
                    <a:pt x="6131270" y="0"/>
                  </a:lnTo>
                  <a:lnTo>
                    <a:pt x="613127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1985" b="-1419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6131268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1"/>
                </a:lnSpc>
              </a:pPr>
              <a:r>
                <a:rPr lang="en-US" sz="1951" b="1">
                  <a:solidFill>
                    <a:srgbClr val="5562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Encoding &amp; Scaling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2559951" y="7814701"/>
            <a:ext cx="4598451" cy="411804"/>
            <a:chOff x="0" y="0"/>
            <a:chExt cx="6131268" cy="54907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131270" cy="549069"/>
            </a:xfrm>
            <a:custGeom>
              <a:avLst/>
              <a:gdLst/>
              <a:ahLst/>
              <a:cxnLst/>
              <a:rect l="l" t="t" r="r" b="b"/>
              <a:pathLst>
                <a:path w="6131270" h="549069">
                  <a:moveTo>
                    <a:pt x="0" y="0"/>
                  </a:moveTo>
                  <a:lnTo>
                    <a:pt x="6131270" y="0"/>
                  </a:lnTo>
                  <a:lnTo>
                    <a:pt x="613127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7582" b="-1675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613126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556273"/>
                  </a:solidFill>
                  <a:latin typeface="Aptos"/>
                  <a:ea typeface="Aptos"/>
                  <a:cs typeface="Aptos"/>
                  <a:sym typeface="Aptos"/>
                </a:rPr>
                <a:t>Only when required</a:t>
              </a:r>
            </a:p>
          </p:txBody>
        </p:sp>
      </p:grpSp>
      <p:sp>
        <p:nvSpPr>
          <p:cNvPr id="122" name="Freeform 12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3" name="TextBox 123"/>
          <p:cNvSpPr txBox="1"/>
          <p:nvPr/>
        </p:nvSpPr>
        <p:spPr>
          <a:xfrm>
            <a:off x="-3276600" y="5971550"/>
            <a:ext cx="11443148" cy="32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  <a:r>
              <a:rPr lang="en-US" sz="1899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Total missing cells: 313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-1718733" y="6299589"/>
            <a:ext cx="8968427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Rating : 31  , RAM :7 , ROM:4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-1448548" y="6627628"/>
            <a:ext cx="8735986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Mobile_size</a:t>
            </a:r>
            <a:r>
              <a:rPr lang="en-US" sz="1899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: 2, </a:t>
            </a:r>
            <a:r>
              <a:rPr lang="en-US" sz="1899" dirty="0" err="1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selfie_Cam</a:t>
            </a:r>
            <a:r>
              <a:rPr lang="en-US" sz="1899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: 269</a:t>
            </a:r>
          </a:p>
        </p:txBody>
      </p:sp>
      <p:sp>
        <p:nvSpPr>
          <p:cNvPr id="126" name="AutoShape 126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7" name="AutoShape 127"/>
          <p:cNvSpPr/>
          <p:nvPr/>
        </p:nvSpPr>
        <p:spPr>
          <a:xfrm>
            <a:off x="-98088" y="10191998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8" name="AutoShape 128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9" name="AutoShape 129"/>
          <p:cNvSpPr/>
          <p:nvPr/>
        </p:nvSpPr>
        <p:spPr>
          <a:xfrm flipH="1">
            <a:off x="22622" y="-675769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28169" y="221013"/>
            <a:ext cx="22611520" cy="1029504"/>
            <a:chOff x="0" y="0"/>
            <a:chExt cx="30148694" cy="1372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48696" cy="1372678"/>
            </a:xfrm>
            <a:custGeom>
              <a:avLst/>
              <a:gdLst/>
              <a:ahLst/>
              <a:cxnLst/>
              <a:rect l="l" t="t" r="r" b="b"/>
              <a:pathLst>
                <a:path w="30148696" h="1372678">
                  <a:moveTo>
                    <a:pt x="0" y="0"/>
                  </a:moveTo>
                  <a:lnTo>
                    <a:pt x="30148696" y="0"/>
                  </a:lnTo>
                  <a:lnTo>
                    <a:pt x="30148696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59" r="27151" b="-261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0148694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42746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INITIAL DATA OUTPUT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-98088" y="10191998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>
            <a:off x="22622" y="-675769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348560" y="1830558"/>
            <a:ext cx="5540002" cy="8100946"/>
          </a:xfrm>
          <a:custGeom>
            <a:avLst/>
            <a:gdLst/>
            <a:ahLst/>
            <a:cxnLst/>
            <a:rect l="l" t="t" r="r" b="b"/>
            <a:pathLst>
              <a:path w="5540002" h="8100946">
                <a:moveTo>
                  <a:pt x="0" y="0"/>
                </a:moveTo>
                <a:lnTo>
                  <a:pt x="5540002" y="0"/>
                </a:lnTo>
                <a:lnTo>
                  <a:pt x="5540002" y="8100946"/>
                </a:lnTo>
                <a:lnTo>
                  <a:pt x="0" y="8100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4696" y="1292214"/>
            <a:ext cx="7820838" cy="5081535"/>
          </a:xfrm>
          <a:custGeom>
            <a:avLst/>
            <a:gdLst/>
            <a:ahLst/>
            <a:cxnLst/>
            <a:rect l="l" t="t" r="r" b="b"/>
            <a:pathLst>
              <a:path w="7820838" h="5081535">
                <a:moveTo>
                  <a:pt x="0" y="0"/>
                </a:moveTo>
                <a:lnTo>
                  <a:pt x="7820839" y="0"/>
                </a:lnTo>
                <a:lnTo>
                  <a:pt x="7820839" y="5081534"/>
                </a:lnTo>
                <a:lnTo>
                  <a:pt x="0" y="5081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65055" y="6424584"/>
            <a:ext cx="8280122" cy="3697528"/>
          </a:xfrm>
          <a:custGeom>
            <a:avLst/>
            <a:gdLst/>
            <a:ahLst/>
            <a:cxnLst/>
            <a:rect l="l" t="t" r="r" b="b"/>
            <a:pathLst>
              <a:path w="8280122" h="3697528">
                <a:moveTo>
                  <a:pt x="0" y="0"/>
                </a:moveTo>
                <a:lnTo>
                  <a:pt x="8280121" y="0"/>
                </a:lnTo>
                <a:lnTo>
                  <a:pt x="8280121" y="3697528"/>
                </a:lnTo>
                <a:lnTo>
                  <a:pt x="0" y="3697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839510" y="1169555"/>
            <a:ext cx="39149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  <a:spcBef>
                <a:spcPct val="0"/>
              </a:spcBef>
            </a:pPr>
            <a:r>
              <a:rPr lang="en-US" sz="3476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MISSING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7725" y="1578696"/>
            <a:ext cx="9260797" cy="3380614"/>
          </a:xfrm>
          <a:custGeom>
            <a:avLst/>
            <a:gdLst/>
            <a:ahLst/>
            <a:cxnLst/>
            <a:rect l="l" t="t" r="r" b="b"/>
            <a:pathLst>
              <a:path w="9260797" h="3380614">
                <a:moveTo>
                  <a:pt x="0" y="0"/>
                </a:moveTo>
                <a:lnTo>
                  <a:pt x="9260797" y="0"/>
                </a:lnTo>
                <a:lnTo>
                  <a:pt x="9260797" y="3380614"/>
                </a:lnTo>
                <a:lnTo>
                  <a:pt x="0" y="3380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07" t="-36115" r="-1186" b="-156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965032" y="2589415"/>
            <a:ext cx="7581876" cy="5393920"/>
          </a:xfrm>
          <a:custGeom>
            <a:avLst/>
            <a:gdLst/>
            <a:ahLst/>
            <a:cxnLst/>
            <a:rect l="l" t="t" r="r" b="b"/>
            <a:pathLst>
              <a:path w="7581876" h="5393920">
                <a:moveTo>
                  <a:pt x="0" y="0"/>
                </a:moveTo>
                <a:lnTo>
                  <a:pt x="7581877" y="0"/>
                </a:lnTo>
                <a:lnTo>
                  <a:pt x="7581877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77725" y="5862343"/>
            <a:ext cx="8506653" cy="4241984"/>
          </a:xfrm>
          <a:custGeom>
            <a:avLst/>
            <a:gdLst/>
            <a:ahLst/>
            <a:cxnLst/>
            <a:rect l="l" t="t" r="r" b="b"/>
            <a:pathLst>
              <a:path w="8506653" h="4241984">
                <a:moveTo>
                  <a:pt x="0" y="0"/>
                </a:moveTo>
                <a:lnTo>
                  <a:pt x="8506654" y="0"/>
                </a:lnTo>
                <a:lnTo>
                  <a:pt x="8506654" y="4241984"/>
                </a:lnTo>
                <a:lnTo>
                  <a:pt x="0" y="424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139238" y="5000625"/>
            <a:ext cx="952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-1501992" y="5153025"/>
            <a:ext cx="1079806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DELETING DUPLICATES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8187" y="1588221"/>
            <a:ext cx="1127636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REPLACING MISSING VALUES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44896" y="1725043"/>
            <a:ext cx="8674773" cy="7828933"/>
          </a:xfrm>
          <a:custGeom>
            <a:avLst/>
            <a:gdLst/>
            <a:ahLst/>
            <a:cxnLst/>
            <a:rect l="l" t="t" r="r" b="b"/>
            <a:pathLst>
              <a:path w="8674773" h="7828933">
                <a:moveTo>
                  <a:pt x="0" y="0"/>
                </a:moveTo>
                <a:lnTo>
                  <a:pt x="8674772" y="0"/>
                </a:lnTo>
                <a:lnTo>
                  <a:pt x="8674772" y="7828933"/>
                </a:lnTo>
                <a:lnTo>
                  <a:pt x="0" y="782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21592" y="2706118"/>
            <a:ext cx="6289510" cy="6916182"/>
          </a:xfrm>
          <a:custGeom>
            <a:avLst/>
            <a:gdLst/>
            <a:ahLst/>
            <a:cxnLst/>
            <a:rect l="l" t="t" r="r" b="b"/>
            <a:pathLst>
              <a:path w="6289510" h="6916182">
                <a:moveTo>
                  <a:pt x="0" y="0"/>
                </a:moveTo>
                <a:lnTo>
                  <a:pt x="6289510" y="0"/>
                </a:lnTo>
                <a:lnTo>
                  <a:pt x="6289510" y="6916182"/>
                </a:lnTo>
                <a:lnTo>
                  <a:pt x="0" y="6916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62125" y="461193"/>
            <a:ext cx="105655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CLEANED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993269" y="1734568"/>
            <a:ext cx="870437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OUTLIER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29379" y="2291719"/>
            <a:ext cx="8958341" cy="6515157"/>
          </a:xfrm>
          <a:custGeom>
            <a:avLst/>
            <a:gdLst/>
            <a:ahLst/>
            <a:cxnLst/>
            <a:rect l="l" t="t" r="r" b="b"/>
            <a:pathLst>
              <a:path w="8958341" h="6515157">
                <a:moveTo>
                  <a:pt x="0" y="0"/>
                </a:moveTo>
                <a:lnTo>
                  <a:pt x="8958341" y="0"/>
                </a:lnTo>
                <a:lnTo>
                  <a:pt x="8958341" y="6515156"/>
                </a:lnTo>
                <a:lnTo>
                  <a:pt x="0" y="6515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83535" y="1812184"/>
            <a:ext cx="8307919" cy="6437373"/>
          </a:xfrm>
          <a:custGeom>
            <a:avLst/>
            <a:gdLst/>
            <a:ahLst/>
            <a:cxnLst/>
            <a:rect l="l" t="t" r="r" b="b"/>
            <a:pathLst>
              <a:path w="8307919" h="6437373">
                <a:moveTo>
                  <a:pt x="0" y="0"/>
                </a:moveTo>
                <a:lnTo>
                  <a:pt x="8307918" y="0"/>
                </a:lnTo>
                <a:lnTo>
                  <a:pt x="8307918" y="6437373"/>
                </a:lnTo>
                <a:lnTo>
                  <a:pt x="0" y="6437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55107" y="8806875"/>
            <a:ext cx="89147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019175"/>
            <a:ext cx="496585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DATA TRANSFORMATION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9358399" y="2226379"/>
            <a:ext cx="0" cy="6580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440869" y="2291719"/>
            <a:ext cx="891753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>
            <a:off x="440869" y="2259049"/>
            <a:ext cx="0" cy="6580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9783535" y="1812184"/>
            <a:ext cx="793546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H="1">
            <a:off x="17718998" y="1812184"/>
            <a:ext cx="19050" cy="69946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9802584" y="1812132"/>
            <a:ext cx="19050" cy="69946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9802585" y="8787773"/>
            <a:ext cx="793546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40412" y="318137"/>
            <a:ext cx="16472068" cy="1029504"/>
            <a:chOff x="0" y="0"/>
            <a:chExt cx="21962758" cy="1372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62759" cy="1372678"/>
            </a:xfrm>
            <a:custGeom>
              <a:avLst/>
              <a:gdLst/>
              <a:ahLst/>
              <a:cxnLst/>
              <a:rect l="l" t="t" r="r" b="b"/>
              <a:pathLst>
                <a:path w="21962759" h="1372678">
                  <a:moveTo>
                    <a:pt x="0" y="0"/>
                  </a:moveTo>
                  <a:lnTo>
                    <a:pt x="21962759" y="0"/>
                  </a:lnTo>
                  <a:lnTo>
                    <a:pt x="21962759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59" b="-261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62758" cy="1382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7"/>
                </a:lnSpc>
              </a:pPr>
              <a:r>
                <a:rPr lang="en-US" sz="5005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WE WILL DO NEXT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9314" y="2772794"/>
            <a:ext cx="796147" cy="301990"/>
            <a:chOff x="0" y="0"/>
            <a:chExt cx="1061530" cy="4026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1533" cy="402651"/>
            </a:xfrm>
            <a:custGeom>
              <a:avLst/>
              <a:gdLst/>
              <a:ahLst/>
              <a:cxnLst/>
              <a:rect l="l" t="t" r="r" b="b"/>
              <a:pathLst>
                <a:path w="1061533" h="402651">
                  <a:moveTo>
                    <a:pt x="0" y="0"/>
                  </a:moveTo>
                  <a:lnTo>
                    <a:pt x="1061533" y="0"/>
                  </a:lnTo>
                  <a:lnTo>
                    <a:pt x="106153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" b="-136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061530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8801" y="1732920"/>
            <a:ext cx="7222284" cy="1429526"/>
            <a:chOff x="0" y="0"/>
            <a:chExt cx="9629712" cy="19060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29715" cy="1906040"/>
            </a:xfrm>
            <a:custGeom>
              <a:avLst/>
              <a:gdLst/>
              <a:ahLst/>
              <a:cxnLst/>
              <a:rect l="l" t="t" r="r" b="b"/>
              <a:pathLst>
                <a:path w="9629715" h="1906040">
                  <a:moveTo>
                    <a:pt x="0" y="0"/>
                  </a:moveTo>
                  <a:lnTo>
                    <a:pt x="9629715" y="0"/>
                  </a:lnTo>
                  <a:lnTo>
                    <a:pt x="9629715" y="1906040"/>
                  </a:lnTo>
                  <a:lnTo>
                    <a:pt x="0" y="1906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616" r="61987" b="457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9629712" cy="1906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82"/>
                </a:lnSpc>
              </a:pPr>
              <a:r>
                <a:rPr lang="en-US" sz="340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OUR NEXT JOURNEY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8604" y="4042675"/>
            <a:ext cx="2539441" cy="892235"/>
            <a:chOff x="0" y="0"/>
            <a:chExt cx="3385922" cy="1189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85947" cy="1189609"/>
            </a:xfrm>
            <a:custGeom>
              <a:avLst/>
              <a:gdLst/>
              <a:ahLst/>
              <a:cxnLst/>
              <a:rect l="l" t="t" r="r" b="b"/>
              <a:pathLst>
                <a:path w="3385947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3187700" y="0"/>
                  </a:lnTo>
                  <a:cubicBezTo>
                    <a:pt x="3297174" y="0"/>
                    <a:pt x="3385947" y="88773"/>
                    <a:pt x="3385947" y="198247"/>
                  </a:cubicBezTo>
                  <a:lnTo>
                    <a:pt x="3385947" y="991362"/>
                  </a:lnTo>
                  <a:cubicBezTo>
                    <a:pt x="3385947" y="1100836"/>
                    <a:pt x="3297174" y="1189609"/>
                    <a:pt x="3187700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2D63A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7241" y="4234852"/>
            <a:ext cx="2402176" cy="411804"/>
            <a:chOff x="0" y="0"/>
            <a:chExt cx="3202902" cy="5490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02902" cy="549069"/>
            </a:xfrm>
            <a:custGeom>
              <a:avLst/>
              <a:gdLst/>
              <a:ahLst/>
              <a:cxnLst/>
              <a:rect l="l" t="t" r="r" b="b"/>
              <a:pathLst>
                <a:path w="3202902" h="549069">
                  <a:moveTo>
                    <a:pt x="0" y="0"/>
                  </a:moveTo>
                  <a:lnTo>
                    <a:pt x="3202902" y="0"/>
                  </a:lnTo>
                  <a:lnTo>
                    <a:pt x="320290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320290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PREPARE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16496" y="4276028"/>
            <a:ext cx="384353" cy="384353"/>
            <a:chOff x="0" y="0"/>
            <a:chExt cx="512470" cy="5124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42094" y="4042675"/>
            <a:ext cx="2539441" cy="892235"/>
            <a:chOff x="0" y="0"/>
            <a:chExt cx="3385922" cy="11896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85947" cy="1189609"/>
            </a:xfrm>
            <a:custGeom>
              <a:avLst/>
              <a:gdLst/>
              <a:ahLst/>
              <a:cxnLst/>
              <a:rect l="l" t="t" r="r" b="b"/>
              <a:pathLst>
                <a:path w="3385947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3187700" y="0"/>
                  </a:lnTo>
                  <a:cubicBezTo>
                    <a:pt x="3297174" y="0"/>
                    <a:pt x="3385947" y="88773"/>
                    <a:pt x="3385947" y="198247"/>
                  </a:cubicBezTo>
                  <a:lnTo>
                    <a:pt x="3385947" y="991362"/>
                  </a:lnTo>
                  <a:cubicBezTo>
                    <a:pt x="3385947" y="1100836"/>
                    <a:pt x="3297174" y="1189609"/>
                    <a:pt x="3187700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E891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10722" y="4234852"/>
            <a:ext cx="2402176" cy="411804"/>
            <a:chOff x="0" y="0"/>
            <a:chExt cx="3202902" cy="5490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2902" cy="549069"/>
            </a:xfrm>
            <a:custGeom>
              <a:avLst/>
              <a:gdLst/>
              <a:ahLst/>
              <a:cxnLst/>
              <a:rect l="l" t="t" r="r" b="b"/>
              <a:pathLst>
                <a:path w="3202902" h="549069">
                  <a:moveTo>
                    <a:pt x="0" y="0"/>
                  </a:moveTo>
                  <a:lnTo>
                    <a:pt x="3202902" y="0"/>
                  </a:lnTo>
                  <a:lnTo>
                    <a:pt x="320290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20290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ANALYZE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59986" y="4276028"/>
            <a:ext cx="384353" cy="384353"/>
            <a:chOff x="0" y="0"/>
            <a:chExt cx="512470" cy="5124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85574" y="4042675"/>
            <a:ext cx="2539441" cy="892235"/>
            <a:chOff x="0" y="0"/>
            <a:chExt cx="3385922" cy="11896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385947" cy="1189609"/>
            </a:xfrm>
            <a:custGeom>
              <a:avLst/>
              <a:gdLst/>
              <a:ahLst/>
              <a:cxnLst/>
              <a:rect l="l" t="t" r="r" b="b"/>
              <a:pathLst>
                <a:path w="3385947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3187700" y="0"/>
                  </a:lnTo>
                  <a:cubicBezTo>
                    <a:pt x="3297174" y="0"/>
                    <a:pt x="3385947" y="88773"/>
                    <a:pt x="3385947" y="198247"/>
                  </a:cubicBezTo>
                  <a:lnTo>
                    <a:pt x="3385947" y="991362"/>
                  </a:lnTo>
                  <a:cubicBezTo>
                    <a:pt x="3385947" y="1100836"/>
                    <a:pt x="3297174" y="1189609"/>
                    <a:pt x="3187700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37875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54202" y="4234852"/>
            <a:ext cx="2402176" cy="411804"/>
            <a:chOff x="0" y="0"/>
            <a:chExt cx="3202902" cy="5490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02902" cy="549069"/>
            </a:xfrm>
            <a:custGeom>
              <a:avLst/>
              <a:gdLst/>
              <a:ahLst/>
              <a:cxnLst/>
              <a:rect l="l" t="t" r="r" b="b"/>
              <a:pathLst>
                <a:path w="3202902" h="549069">
                  <a:moveTo>
                    <a:pt x="0" y="0"/>
                  </a:moveTo>
                  <a:lnTo>
                    <a:pt x="3202902" y="0"/>
                  </a:lnTo>
                  <a:lnTo>
                    <a:pt x="320290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20290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VISUALIZE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03466" y="4276028"/>
            <a:ext cx="384353" cy="384353"/>
            <a:chOff x="0" y="0"/>
            <a:chExt cx="512470" cy="5124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0"/>
                  </a:move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0" y="512445"/>
                  </a:lnTo>
                  <a:lnTo>
                    <a:pt x="256286" y="256286"/>
                  </a:lnTo>
                  <a:close/>
                </a:path>
              </a:pathLst>
            </a:custGeom>
            <a:solidFill>
              <a:srgbClr val="D8E1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229055" y="4042675"/>
            <a:ext cx="2539441" cy="892235"/>
            <a:chOff x="0" y="0"/>
            <a:chExt cx="3385922" cy="118964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385947" cy="1189609"/>
            </a:xfrm>
            <a:custGeom>
              <a:avLst/>
              <a:gdLst/>
              <a:ahLst/>
              <a:cxnLst/>
              <a:rect l="l" t="t" r="r" b="b"/>
              <a:pathLst>
                <a:path w="3385947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3187700" y="0"/>
                  </a:lnTo>
                  <a:cubicBezTo>
                    <a:pt x="3297174" y="0"/>
                    <a:pt x="3385947" y="88773"/>
                    <a:pt x="3385947" y="198247"/>
                  </a:cubicBezTo>
                  <a:lnTo>
                    <a:pt x="3385947" y="991362"/>
                  </a:lnTo>
                  <a:cubicBezTo>
                    <a:pt x="3385947" y="1100836"/>
                    <a:pt x="3297174" y="1189609"/>
                    <a:pt x="3187700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427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297692" y="4234852"/>
            <a:ext cx="2402176" cy="411804"/>
            <a:chOff x="0" y="0"/>
            <a:chExt cx="3202902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202902" cy="549069"/>
            </a:xfrm>
            <a:custGeom>
              <a:avLst/>
              <a:gdLst/>
              <a:ahLst/>
              <a:cxnLst/>
              <a:rect l="l" t="t" r="r" b="b"/>
              <a:pathLst>
                <a:path w="3202902" h="549069">
                  <a:moveTo>
                    <a:pt x="0" y="0"/>
                  </a:moveTo>
                  <a:lnTo>
                    <a:pt x="3202902" y="0"/>
                  </a:lnTo>
                  <a:lnTo>
                    <a:pt x="320290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3202902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INSIGHT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00604" y="7275389"/>
            <a:ext cx="12903117" cy="549069"/>
            <a:chOff x="0" y="0"/>
            <a:chExt cx="17204157" cy="7320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204161" cy="732092"/>
            </a:xfrm>
            <a:custGeom>
              <a:avLst/>
              <a:gdLst/>
              <a:ahLst/>
              <a:cxnLst/>
              <a:rect l="l" t="t" r="r" b="b"/>
              <a:pathLst>
                <a:path w="17204161" h="732092">
                  <a:moveTo>
                    <a:pt x="0" y="0"/>
                  </a:moveTo>
                  <a:lnTo>
                    <a:pt x="17204161" y="0"/>
                  </a:lnTo>
                  <a:lnTo>
                    <a:pt x="1720416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7898" b="-4078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7204157" cy="732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22"/>
                </a:lnSpc>
              </a:pPr>
              <a:r>
                <a:rPr lang="en-US" sz="2851" b="1">
                  <a:solidFill>
                    <a:srgbClr val="1427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Goal: Meaningful smartphone comparison based on data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66713" y="2617465"/>
            <a:ext cx="6754671" cy="6180524"/>
          </a:xfrm>
          <a:custGeom>
            <a:avLst/>
            <a:gdLst/>
            <a:ahLst/>
            <a:cxnLst/>
            <a:rect l="l" t="t" r="r" b="b"/>
            <a:pathLst>
              <a:path w="6754671" h="6180524">
                <a:moveTo>
                  <a:pt x="0" y="0"/>
                </a:moveTo>
                <a:lnTo>
                  <a:pt x="6754671" y="0"/>
                </a:lnTo>
                <a:lnTo>
                  <a:pt x="6754671" y="6180523"/>
                </a:lnTo>
                <a:lnTo>
                  <a:pt x="0" y="6180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560874" y="3664830"/>
            <a:ext cx="9325680" cy="2078452"/>
          </a:xfrm>
          <a:custGeom>
            <a:avLst/>
            <a:gdLst/>
            <a:ahLst/>
            <a:cxnLst/>
            <a:rect l="l" t="t" r="r" b="b"/>
            <a:pathLst>
              <a:path w="9325680" h="2078452">
                <a:moveTo>
                  <a:pt x="0" y="0"/>
                </a:moveTo>
                <a:lnTo>
                  <a:pt x="9325681" y="0"/>
                </a:lnTo>
                <a:lnTo>
                  <a:pt x="9325681" y="2078452"/>
                </a:lnTo>
                <a:lnTo>
                  <a:pt x="0" y="2078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9" r="-103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-1912782" y="1260042"/>
            <a:ext cx="1180031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FINAL DATA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20933" y="2405286"/>
            <a:ext cx="675467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DATASET SAVING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02431" y="2841302"/>
            <a:ext cx="71189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02431" y="9018023"/>
            <a:ext cx="71452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>
            <a:off x="1028700" y="2860352"/>
            <a:ext cx="0" cy="61576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8128604" y="2860352"/>
            <a:ext cx="0" cy="61576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560874" y="3645780"/>
            <a:ext cx="924343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520933" y="5762332"/>
            <a:ext cx="93161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H="1">
            <a:off x="8560874" y="3666248"/>
            <a:ext cx="18997" cy="20770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7886555" y="3666411"/>
            <a:ext cx="0" cy="20768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918426" y="342900"/>
            <a:ext cx="1055255" cy="1055255"/>
          </a:xfrm>
          <a:custGeom>
            <a:avLst/>
            <a:gdLst/>
            <a:ahLst/>
            <a:cxnLst/>
            <a:rect l="l" t="t" r="r" b="b"/>
            <a:pathLst>
              <a:path w="1055255" h="1055255">
                <a:moveTo>
                  <a:pt x="0" y="0"/>
                </a:moveTo>
                <a:lnTo>
                  <a:pt x="1055255" y="0"/>
                </a:lnTo>
                <a:lnTo>
                  <a:pt x="1055255" y="1055255"/>
                </a:lnTo>
                <a:lnTo>
                  <a:pt x="0" y="1055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882463" y="986718"/>
            <a:ext cx="6789420" cy="8229600"/>
          </a:xfrm>
          <a:custGeom>
            <a:avLst/>
            <a:gdLst/>
            <a:ahLst/>
            <a:cxnLst/>
            <a:rect l="l" t="t" r="r" b="b"/>
            <a:pathLst>
              <a:path w="6789420" h="8229600">
                <a:moveTo>
                  <a:pt x="0" y="0"/>
                </a:moveTo>
                <a:lnTo>
                  <a:pt x="6789420" y="0"/>
                </a:lnTo>
                <a:lnTo>
                  <a:pt x="6789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095555" y="333375"/>
            <a:ext cx="444400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DATA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384476" y="1398155"/>
            <a:ext cx="1366106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After data preparation, the dataset is analyzed using Pandas.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121248" y="2231592"/>
            <a:ext cx="687156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Analysis Performed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2613" y="3222192"/>
            <a:ext cx="923959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Analyze smartphone specifications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2613" y="3936567"/>
            <a:ext cx="908214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Calculate summary statistics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2613" y="4650942"/>
            <a:ext cx="100269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 important attributes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613" y="5365317"/>
            <a:ext cx="953399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Perform brand-wise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613" y="6079692"/>
            <a:ext cx="837295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Categorize smartphones by price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2613" y="6794067"/>
            <a:ext cx="1180920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Study relationships between specifications and price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525872" y="7737042"/>
            <a:ext cx="50249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Main Attributes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935934" y="8575242"/>
            <a:ext cx="868803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RAM • ROM • Battery • Ratings • Price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21020" y="5143500"/>
            <a:ext cx="10043999" cy="4219798"/>
          </a:xfrm>
          <a:custGeom>
            <a:avLst/>
            <a:gdLst/>
            <a:ahLst/>
            <a:cxnLst/>
            <a:rect l="l" t="t" r="r" b="b"/>
            <a:pathLst>
              <a:path w="10043999" h="4219798">
                <a:moveTo>
                  <a:pt x="0" y="0"/>
                </a:moveTo>
                <a:lnTo>
                  <a:pt x="10044000" y="0"/>
                </a:lnTo>
                <a:lnTo>
                  <a:pt x="10044000" y="4219798"/>
                </a:lnTo>
                <a:lnTo>
                  <a:pt x="0" y="4219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180363" y="2488767"/>
            <a:ext cx="7496592" cy="5527379"/>
          </a:xfrm>
          <a:custGeom>
            <a:avLst/>
            <a:gdLst/>
            <a:ahLst/>
            <a:cxnLst/>
            <a:rect l="l" t="t" r="r" b="b"/>
            <a:pathLst>
              <a:path w="7496592" h="5527379">
                <a:moveTo>
                  <a:pt x="0" y="0"/>
                </a:moveTo>
                <a:lnTo>
                  <a:pt x="7496592" y="0"/>
                </a:lnTo>
                <a:lnTo>
                  <a:pt x="7496592" y="5527379"/>
                </a:lnTo>
                <a:lnTo>
                  <a:pt x="0" y="5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21020" y="5103997"/>
            <a:ext cx="91903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21020" y="9315450"/>
            <a:ext cx="91903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9611329" y="5143500"/>
            <a:ext cx="19050" cy="4171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440070" y="5085034"/>
            <a:ext cx="19050" cy="4171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9990499" y="2488767"/>
            <a:ext cx="788540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0011425" y="8320946"/>
            <a:ext cx="788540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9990499" y="2488767"/>
            <a:ext cx="39976" cy="5851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7894951" y="2507947"/>
            <a:ext cx="39976" cy="5851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3730372" y="283044"/>
            <a:ext cx="11761914" cy="6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7"/>
              </a:lnSpc>
              <a:spcBef>
                <a:spcPct val="0"/>
              </a:spcBef>
            </a:pPr>
            <a:r>
              <a:rPr lang="en-US" sz="468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BRAND-WISE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818075" y="1545792"/>
            <a:ext cx="813563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Operations Performed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369" y="2488767"/>
            <a:ext cx="998610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Identify different smartphone brands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369" y="3046597"/>
            <a:ext cx="1181234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Count smartphones for each brand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369" y="3608572"/>
            <a:ext cx="896539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Calculate average price by brand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369" y="4170547"/>
            <a:ext cx="865276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 brand-wise pricing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97138" y="1698192"/>
            <a:ext cx="428648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OUTPUT 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295433" y="2613492"/>
            <a:ext cx="9089628" cy="6701954"/>
          </a:xfrm>
          <a:custGeom>
            <a:avLst/>
            <a:gdLst/>
            <a:ahLst/>
            <a:cxnLst/>
            <a:rect l="l" t="t" r="r" b="b"/>
            <a:pathLst>
              <a:path w="9089628" h="6701954">
                <a:moveTo>
                  <a:pt x="0" y="0"/>
                </a:moveTo>
                <a:lnTo>
                  <a:pt x="9089628" y="0"/>
                </a:lnTo>
                <a:lnTo>
                  <a:pt x="9089628" y="6701954"/>
                </a:lnTo>
                <a:lnTo>
                  <a:pt x="0" y="6701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96027" y="334746"/>
            <a:ext cx="1003968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PRICE RANGE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631562" y="1708167"/>
            <a:ext cx="1626539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Smartphones are grouped into different price categories: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4664" y="2579020"/>
            <a:ext cx="6527154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Below ₹10K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₹10K – ₹20K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₹20K – ₹30K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₹30K – ₹50K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Above ₹50K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774157" y="5488219"/>
            <a:ext cx="473115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Purpose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372115" y="6250219"/>
            <a:ext cx="126582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To understand how smartphones are distributed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447752" y="6945544"/>
            <a:ext cx="841957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across different pricesegments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8448096" y="2613492"/>
            <a:ext cx="888594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8448055" y="9620246"/>
            <a:ext cx="888594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7334041" y="2470930"/>
            <a:ext cx="19009" cy="71683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H="1">
            <a:off x="8429046" y="2576974"/>
            <a:ext cx="19004" cy="70816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28189" y="2374811"/>
            <a:ext cx="9727462" cy="5537378"/>
          </a:xfrm>
          <a:custGeom>
            <a:avLst/>
            <a:gdLst/>
            <a:ahLst/>
            <a:cxnLst/>
            <a:rect l="l" t="t" r="r" b="b"/>
            <a:pathLst>
              <a:path w="9727462" h="5537378">
                <a:moveTo>
                  <a:pt x="0" y="0"/>
                </a:moveTo>
                <a:lnTo>
                  <a:pt x="9727462" y="0"/>
                </a:lnTo>
                <a:lnTo>
                  <a:pt x="972746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212294" y="438150"/>
            <a:ext cx="829752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SPECIFICATION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553139" y="1551735"/>
            <a:ext cx="765399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Attributes Analyzed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424" y="2329202"/>
            <a:ext cx="6982161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RAM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ROM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Battery Power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Ratings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718223" y="5212882"/>
            <a:ext cx="39474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5424" y="6143938"/>
            <a:ext cx="6792765" cy="170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786" lvl="1" indent="-303893" algn="l">
              <a:lnSpc>
                <a:spcPts val="3378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Average values</a:t>
            </a:r>
          </a:p>
          <a:p>
            <a:pPr marL="607786" lvl="1" indent="-303893" algn="l">
              <a:lnSpc>
                <a:spcPts val="3378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Minimum values</a:t>
            </a:r>
          </a:p>
          <a:p>
            <a:pPr marL="607786" lvl="1" indent="-303893" algn="l">
              <a:lnSpc>
                <a:spcPts val="3378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Maximum values</a:t>
            </a:r>
          </a:p>
          <a:p>
            <a:pPr marL="607786" lvl="1" indent="-303893" algn="l">
              <a:lnSpc>
                <a:spcPts val="3378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Distribution of values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7128235" y="2374811"/>
            <a:ext cx="969060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7128197" y="7931239"/>
            <a:ext cx="969060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6780747" y="2374862"/>
            <a:ext cx="106003" cy="5667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7128235" y="2375167"/>
            <a:ext cx="19047" cy="56900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1905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06147" y="3131072"/>
            <a:ext cx="14836222" cy="6425665"/>
          </a:xfrm>
          <a:custGeom>
            <a:avLst/>
            <a:gdLst/>
            <a:ahLst/>
            <a:cxnLst/>
            <a:rect l="l" t="t" r="r" b="b"/>
            <a:pathLst>
              <a:path w="14836222" h="6425665">
                <a:moveTo>
                  <a:pt x="0" y="0"/>
                </a:moveTo>
                <a:lnTo>
                  <a:pt x="14836221" y="0"/>
                </a:lnTo>
                <a:lnTo>
                  <a:pt x="14836221" y="6425665"/>
                </a:lnTo>
                <a:lnTo>
                  <a:pt x="0" y="642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531929" y="153737"/>
            <a:ext cx="1058393" cy="1096780"/>
          </a:xfrm>
          <a:custGeom>
            <a:avLst/>
            <a:gdLst/>
            <a:ahLst/>
            <a:cxnLst/>
            <a:rect l="l" t="t" r="r" b="b"/>
            <a:pathLst>
              <a:path w="1058393" h="1096780">
                <a:moveTo>
                  <a:pt x="0" y="0"/>
                </a:moveTo>
                <a:lnTo>
                  <a:pt x="1058392" y="0"/>
                </a:lnTo>
                <a:lnTo>
                  <a:pt x="1058392" y="1096780"/>
                </a:lnTo>
                <a:lnTo>
                  <a:pt x="0" y="1096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877602" y="234734"/>
            <a:ext cx="9362395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DATA VISUALIZATION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210634" y="1654697"/>
            <a:ext cx="94851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analyzed data is represented using </a:t>
            </a:r>
            <a:r>
              <a:rPr lang="en-US" sz="27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Matplotlib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04794" y="2464322"/>
            <a:ext cx="5714994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Visualizations Used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44369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069153" y="5346120"/>
            <a:ext cx="11228213" cy="4450823"/>
          </a:xfrm>
          <a:custGeom>
            <a:avLst/>
            <a:gdLst/>
            <a:ahLst/>
            <a:cxnLst/>
            <a:rect l="l" t="t" r="r" b="b"/>
            <a:pathLst>
              <a:path w="11228213" h="4450823">
                <a:moveTo>
                  <a:pt x="0" y="0"/>
                </a:moveTo>
                <a:lnTo>
                  <a:pt x="11228213" y="0"/>
                </a:lnTo>
                <a:lnTo>
                  <a:pt x="11228213" y="4450823"/>
                </a:lnTo>
                <a:lnTo>
                  <a:pt x="0" y="4450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215192" y="5480314"/>
            <a:ext cx="107936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138851" y="9796943"/>
            <a:ext cx="108700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4138851" y="5461264"/>
            <a:ext cx="76342" cy="43356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5027932" y="5499364"/>
            <a:ext cx="0" cy="43166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415782" y="349034"/>
            <a:ext cx="114564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BRAND-WISE AVERAGE PRICE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33266" y="1759311"/>
            <a:ext cx="548849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Bar Chart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832" y="2587986"/>
            <a:ext cx="17326446" cy="152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2714" lvl="1" indent="-361357" algn="l">
              <a:lnSpc>
                <a:spcPts val="4016"/>
              </a:lnSpc>
              <a:buFont typeface="Arial"/>
              <a:buChar char="•"/>
            </a:pPr>
            <a:r>
              <a:rPr lang="en-US" sz="334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Compares average smartphone price across brands</a:t>
            </a:r>
          </a:p>
          <a:p>
            <a:pPr marL="722714" lvl="1" indent="-361357" algn="l">
              <a:lnSpc>
                <a:spcPts val="4016"/>
              </a:lnSpc>
              <a:buFont typeface="Arial"/>
              <a:buChar char="•"/>
            </a:pPr>
            <a:r>
              <a:rPr lang="en-US" sz="334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Makes brand-wise price comparison easier</a:t>
            </a:r>
          </a:p>
          <a:p>
            <a:pPr marL="722714" lvl="1" indent="-361357" algn="l">
              <a:lnSpc>
                <a:spcPts val="4016"/>
              </a:lnSpc>
              <a:buFont typeface="Arial"/>
              <a:buChar char="•"/>
            </a:pPr>
            <a:r>
              <a:rPr lang="en-US" sz="334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differences in average pricing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794469" y="4638675"/>
            <a:ext cx="1880996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chart helps identify how average smartphone prices vary between brands.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43" y="1373532"/>
            <a:ext cx="1092515" cy="1091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909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1344752"/>
            <a:ext cx="16701043" cy="8289658"/>
          </a:xfrm>
          <a:custGeom>
            <a:avLst/>
            <a:gdLst/>
            <a:ahLst/>
            <a:cxnLst/>
            <a:rect l="l" t="t" r="r" b="b"/>
            <a:pathLst>
              <a:path w="16701043" h="8289658">
                <a:moveTo>
                  <a:pt x="0" y="0"/>
                </a:moveTo>
                <a:lnTo>
                  <a:pt x="16701043" y="0"/>
                </a:lnTo>
                <a:lnTo>
                  <a:pt x="16701043" y="8289657"/>
                </a:lnTo>
                <a:lnTo>
                  <a:pt x="0" y="828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057973" y="106502"/>
            <a:ext cx="312812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BAR CHART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2745" y="2075226"/>
            <a:ext cx="6828543" cy="7183074"/>
          </a:xfrm>
          <a:custGeom>
            <a:avLst/>
            <a:gdLst/>
            <a:ahLst/>
            <a:cxnLst/>
            <a:rect l="l" t="t" r="r" b="b"/>
            <a:pathLst>
              <a:path w="6828543" h="7183074">
                <a:moveTo>
                  <a:pt x="0" y="0"/>
                </a:moveTo>
                <a:lnTo>
                  <a:pt x="6828543" y="0"/>
                </a:lnTo>
                <a:lnTo>
                  <a:pt x="6828543" y="7183074"/>
                </a:lnTo>
                <a:lnTo>
                  <a:pt x="0" y="7183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2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1772684" y="2121247"/>
            <a:ext cx="818094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Pie Chart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95537" y="3197857"/>
            <a:ext cx="138340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Represents smartphones across different price categories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4303930"/>
            <a:ext cx="1079442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the proportion of each price segment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5410003"/>
            <a:ext cx="148894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Helps identify the distribution of smartphones by price range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10813534" y="2016757"/>
            <a:ext cx="0" cy="74850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7240194" y="1924226"/>
            <a:ext cx="56" cy="75871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813534" y="2016757"/>
            <a:ext cx="644576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794428" y="9492307"/>
            <a:ext cx="644576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20" y="10111432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>
            <a:off x="20" y="23096"/>
            <a:ext cx="19050" cy="10107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18249900" y="23060"/>
            <a:ext cx="19050" cy="10107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17532" y="2121247"/>
            <a:ext cx="711168" cy="711168"/>
          </a:xfrm>
          <a:custGeom>
            <a:avLst/>
            <a:gdLst/>
            <a:ahLst/>
            <a:cxnLst/>
            <a:rect l="l" t="t" r="r" b="b"/>
            <a:pathLst>
              <a:path w="711168" h="711168">
                <a:moveTo>
                  <a:pt x="0" y="0"/>
                </a:moveTo>
                <a:lnTo>
                  <a:pt x="711168" y="0"/>
                </a:lnTo>
                <a:lnTo>
                  <a:pt x="711168" y="711168"/>
                </a:lnTo>
                <a:lnTo>
                  <a:pt x="0" y="711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497130" y="438150"/>
            <a:ext cx="1281450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PRICE CATEGORY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5847" y="406042"/>
            <a:ext cx="13361328" cy="9474916"/>
          </a:xfrm>
          <a:custGeom>
            <a:avLst/>
            <a:gdLst/>
            <a:ahLst/>
            <a:cxnLst/>
            <a:rect l="l" t="t" r="r" b="b"/>
            <a:pathLst>
              <a:path w="13361328" h="9474916">
                <a:moveTo>
                  <a:pt x="0" y="0"/>
                </a:moveTo>
                <a:lnTo>
                  <a:pt x="13361327" y="0"/>
                </a:lnTo>
                <a:lnTo>
                  <a:pt x="13361327" y="9474916"/>
                </a:lnTo>
                <a:lnTo>
                  <a:pt x="0" y="947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5" t="-212" r="-8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11432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20" y="23096"/>
            <a:ext cx="19050" cy="10107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8249900" y="23060"/>
            <a:ext cx="19050" cy="101073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580788" y="1466203"/>
            <a:ext cx="5256784" cy="8139536"/>
          </a:xfrm>
          <a:custGeom>
            <a:avLst/>
            <a:gdLst/>
            <a:ahLst/>
            <a:cxnLst/>
            <a:rect l="l" t="t" r="r" b="b"/>
            <a:pathLst>
              <a:path w="5256784" h="8139536">
                <a:moveTo>
                  <a:pt x="0" y="0"/>
                </a:moveTo>
                <a:lnTo>
                  <a:pt x="5256784" y="0"/>
                </a:lnTo>
                <a:lnTo>
                  <a:pt x="5256784" y="8139536"/>
                </a:lnTo>
                <a:lnTo>
                  <a:pt x="0" y="8139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59432" y="3309562"/>
            <a:ext cx="1253123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Compares average price for different RAM values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432" y="5462212"/>
            <a:ext cx="1260302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Helps identify pricing patterns across RAM levels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580788" y="1506021"/>
            <a:ext cx="0" cy="77522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6856622" y="1506021"/>
            <a:ext cx="0" cy="77522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11505262" y="1447153"/>
            <a:ext cx="535130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11505251" y="9296400"/>
            <a:ext cx="535130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59432" y="1648436"/>
            <a:ext cx="1338536" cy="1003902"/>
          </a:xfrm>
          <a:custGeom>
            <a:avLst/>
            <a:gdLst/>
            <a:ahLst/>
            <a:cxnLst/>
            <a:rect l="l" t="t" r="r" b="b"/>
            <a:pathLst>
              <a:path w="1338536" h="1003902">
                <a:moveTo>
                  <a:pt x="0" y="0"/>
                </a:moveTo>
                <a:lnTo>
                  <a:pt x="1338536" y="0"/>
                </a:lnTo>
                <a:lnTo>
                  <a:pt x="1338536" y="1003901"/>
                </a:lnTo>
                <a:lnTo>
                  <a:pt x="0" y="1003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693620" y="634784"/>
            <a:ext cx="1034372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AVERAGE PRICE VS RAM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5243" y="1897669"/>
            <a:ext cx="489322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Line Chart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9432" y="4385887"/>
            <a:ext cx="1127521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how average price changes with RAM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20959" y="836446"/>
            <a:ext cx="16130866" cy="9750462"/>
          </a:xfrm>
          <a:custGeom>
            <a:avLst/>
            <a:gdLst/>
            <a:ahLst/>
            <a:cxnLst/>
            <a:rect l="l" t="t" r="r" b="b"/>
            <a:pathLst>
              <a:path w="16130866" h="9750462">
                <a:moveTo>
                  <a:pt x="0" y="0"/>
                </a:moveTo>
                <a:lnTo>
                  <a:pt x="16130866" y="0"/>
                </a:lnTo>
                <a:lnTo>
                  <a:pt x="16130866" y="9750462"/>
                </a:lnTo>
                <a:lnTo>
                  <a:pt x="0" y="9750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53" t="-1115" r="-4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21765" y="2207146"/>
            <a:ext cx="7318625" cy="4096245"/>
          </a:xfrm>
          <a:custGeom>
            <a:avLst/>
            <a:gdLst/>
            <a:ahLst/>
            <a:cxnLst/>
            <a:rect l="l" t="t" r="r" b="b"/>
            <a:pathLst>
              <a:path w="7318625" h="4096245">
                <a:moveTo>
                  <a:pt x="0" y="0"/>
                </a:moveTo>
                <a:lnTo>
                  <a:pt x="7318624" y="0"/>
                </a:lnTo>
                <a:lnTo>
                  <a:pt x="7318624" y="4096245"/>
                </a:lnTo>
                <a:lnTo>
                  <a:pt x="0" y="409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070" y="4280330"/>
            <a:ext cx="1051387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Each point represents a smartphone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70110" y="5209539"/>
            <a:ext cx="1120045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variation in prices for different RAM values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" y="6325279"/>
            <a:ext cx="129151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Helps observe the relationship between RAM and price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10121821" y="1944935"/>
            <a:ext cx="690814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>
            <a:off x="10140927" y="1986642"/>
            <a:ext cx="0" cy="44017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10121877" y="6325279"/>
            <a:ext cx="690808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16979877" y="1901595"/>
            <a:ext cx="0" cy="44017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98929" y="1963985"/>
            <a:ext cx="856571" cy="856571"/>
          </a:xfrm>
          <a:custGeom>
            <a:avLst/>
            <a:gdLst/>
            <a:ahLst/>
            <a:cxnLst/>
            <a:rect l="l" t="t" r="r" b="b"/>
            <a:pathLst>
              <a:path w="856571" h="856571">
                <a:moveTo>
                  <a:pt x="0" y="0"/>
                </a:moveTo>
                <a:lnTo>
                  <a:pt x="856570" y="0"/>
                </a:lnTo>
                <a:lnTo>
                  <a:pt x="856570" y="856570"/>
                </a:lnTo>
                <a:lnTo>
                  <a:pt x="0" y="856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536657" y="334746"/>
            <a:ext cx="5583552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RAM VS PRICE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929" y="2115705"/>
            <a:ext cx="55450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Scatter Plot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66548" y="3287052"/>
            <a:ext cx="942797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Compares RAM with smartphone price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083386" y="1420323"/>
            <a:ext cx="12081743" cy="7837977"/>
          </a:xfrm>
          <a:custGeom>
            <a:avLst/>
            <a:gdLst/>
            <a:ahLst/>
            <a:cxnLst/>
            <a:rect l="l" t="t" r="r" b="b"/>
            <a:pathLst>
              <a:path w="12081743" h="7837977">
                <a:moveTo>
                  <a:pt x="0" y="0"/>
                </a:moveTo>
                <a:lnTo>
                  <a:pt x="12081743" y="0"/>
                </a:lnTo>
                <a:lnTo>
                  <a:pt x="12081743" y="7837977"/>
                </a:lnTo>
                <a:lnTo>
                  <a:pt x="0" y="7837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00878" y="3183516"/>
            <a:ext cx="8318550" cy="5088541"/>
          </a:xfrm>
          <a:custGeom>
            <a:avLst/>
            <a:gdLst/>
            <a:ahLst/>
            <a:cxnLst/>
            <a:rect l="l" t="t" r="r" b="b"/>
            <a:pathLst>
              <a:path w="8318550" h="5088541">
                <a:moveTo>
                  <a:pt x="0" y="0"/>
                </a:moveTo>
                <a:lnTo>
                  <a:pt x="8318550" y="0"/>
                </a:lnTo>
                <a:lnTo>
                  <a:pt x="8318550" y="5088541"/>
                </a:lnTo>
                <a:lnTo>
                  <a:pt x="0" y="5088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6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2420" y="15240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23114" y="3359580"/>
            <a:ext cx="1389514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the distribution of battery capacities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3114" y="4170067"/>
            <a:ext cx="1154927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Groups battery values into intervals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114" y="5153025"/>
            <a:ext cx="13009711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Helps identify commonly occurring battery ranges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00" y="6181725"/>
            <a:ext cx="121118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Shows how battery capacities are spread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800834" y="3202566"/>
            <a:ext cx="8318594" cy="4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9800878" y="8253007"/>
            <a:ext cx="83759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H="1">
            <a:off x="9800834" y="3183516"/>
            <a:ext cx="44" cy="51075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8100383" y="3203014"/>
            <a:ext cx="19045" cy="49603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670710" y="1913152"/>
            <a:ext cx="584789" cy="749730"/>
          </a:xfrm>
          <a:custGeom>
            <a:avLst/>
            <a:gdLst/>
            <a:ahLst/>
            <a:cxnLst/>
            <a:rect l="l" t="t" r="r" b="b"/>
            <a:pathLst>
              <a:path w="584789" h="749730">
                <a:moveTo>
                  <a:pt x="0" y="0"/>
                </a:moveTo>
                <a:lnTo>
                  <a:pt x="584789" y="0"/>
                </a:lnTo>
                <a:lnTo>
                  <a:pt x="584789" y="749730"/>
                </a:lnTo>
                <a:lnTo>
                  <a:pt x="0" y="749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720589" y="634784"/>
            <a:ext cx="1349971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BATTERY CAPACITY DISTRIBUTION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470776" y="2119957"/>
            <a:ext cx="596351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Histogram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-963835" y="7105650"/>
            <a:ext cx="694962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across the dataset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882825" y="1250517"/>
            <a:ext cx="13877931" cy="8709931"/>
          </a:xfrm>
          <a:custGeom>
            <a:avLst/>
            <a:gdLst/>
            <a:ahLst/>
            <a:cxnLst/>
            <a:rect l="l" t="t" r="r" b="b"/>
            <a:pathLst>
              <a:path w="13877931" h="8709931">
                <a:moveTo>
                  <a:pt x="0" y="0"/>
                </a:moveTo>
                <a:lnTo>
                  <a:pt x="13877932" y="0"/>
                </a:lnTo>
                <a:lnTo>
                  <a:pt x="13877932" y="8709932"/>
                </a:lnTo>
                <a:lnTo>
                  <a:pt x="0" y="8709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798168" y="2180111"/>
            <a:ext cx="11067007" cy="7352651"/>
          </a:xfrm>
          <a:custGeom>
            <a:avLst/>
            <a:gdLst/>
            <a:ahLst/>
            <a:cxnLst/>
            <a:rect l="l" t="t" r="r" b="b"/>
            <a:pathLst>
              <a:path w="11067007" h="7352651">
                <a:moveTo>
                  <a:pt x="0" y="0"/>
                </a:moveTo>
                <a:lnTo>
                  <a:pt x="11067007" y="0"/>
                </a:lnTo>
                <a:lnTo>
                  <a:pt x="11067007" y="7352651"/>
                </a:lnTo>
                <a:lnTo>
                  <a:pt x="0" y="7352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87699" y="329984"/>
            <a:ext cx="1218626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SMARTPHONE RECOMMENDATION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694998" y="1932461"/>
            <a:ext cx="641195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User 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762" y="2674027"/>
            <a:ext cx="7113303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Budget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Minimum RAM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Minimum Storage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Minimum Battery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999476" y="4916472"/>
            <a:ext cx="499276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999476" y="5865961"/>
            <a:ext cx="8468846" cy="339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User Requirements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↓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Filter Dataset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↓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Find Matching Smartphones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↓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Display Recommendations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6798064" y="2180111"/>
            <a:ext cx="104" cy="72909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6798064" y="2180111"/>
            <a:ext cx="1104424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6828568" y="9471016"/>
            <a:ext cx="110441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17823158" y="2180111"/>
            <a:ext cx="104" cy="72909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4217" y="1554109"/>
            <a:ext cx="17114586" cy="7894541"/>
          </a:xfrm>
          <a:custGeom>
            <a:avLst/>
            <a:gdLst/>
            <a:ahLst/>
            <a:cxnLst/>
            <a:rect l="l" t="t" r="r" b="b"/>
            <a:pathLst>
              <a:path w="17114586" h="7894541">
                <a:moveTo>
                  <a:pt x="0" y="0"/>
                </a:moveTo>
                <a:lnTo>
                  <a:pt x="17114586" y="0"/>
                </a:lnTo>
                <a:lnTo>
                  <a:pt x="17114586" y="7894541"/>
                </a:lnTo>
                <a:lnTo>
                  <a:pt x="0" y="7894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4246" y="415218"/>
            <a:ext cx="903825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PROJECT WORKFLOW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05687" y="2393490"/>
            <a:ext cx="17723757" cy="7675541"/>
          </a:xfrm>
          <a:custGeom>
            <a:avLst/>
            <a:gdLst/>
            <a:ahLst/>
            <a:cxnLst/>
            <a:rect l="l" t="t" r="r" b="b"/>
            <a:pathLst>
              <a:path w="17723757" h="7675541">
                <a:moveTo>
                  <a:pt x="0" y="0"/>
                </a:moveTo>
                <a:lnTo>
                  <a:pt x="17723758" y="0"/>
                </a:lnTo>
                <a:lnTo>
                  <a:pt x="17723758" y="7675541"/>
                </a:lnTo>
                <a:lnTo>
                  <a:pt x="0" y="7675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472980" y="1260042"/>
            <a:ext cx="705482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43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" y="0"/>
            <a:ext cx="2510959" cy="1250517"/>
          </a:xfrm>
          <a:custGeom>
            <a:avLst/>
            <a:gdLst/>
            <a:ahLst/>
            <a:cxnLst/>
            <a:rect l="l" t="t" r="r" b="b"/>
            <a:pathLst>
              <a:path w="2510959" h="1250517">
                <a:moveTo>
                  <a:pt x="0" y="0"/>
                </a:moveTo>
                <a:lnTo>
                  <a:pt x="2510959" y="0"/>
                </a:lnTo>
                <a:lnTo>
                  <a:pt x="2510959" y="1250517"/>
                </a:lnTo>
                <a:lnTo>
                  <a:pt x="0" y="12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20" y="10183986"/>
            <a:ext cx="182880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8229445" y="-299908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9070" y="0"/>
            <a:ext cx="0" cy="10886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00000" y="1260042"/>
            <a:ext cx="120000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43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FUTURE ENHANCEMENTS</a:t>
            </a:r>
          </a:p>
        </p:txBody>
      </p:sp>
      <p:sp>
        <p:nvSpPr>
          <p:cNvPr id="20" name="Icon Circle 1"/>
          <p:cNvSpPr/>
          <p:nvPr/>
        </p:nvSpPr>
        <p:spPr>
          <a:xfrm>
            <a:off x="700000" y="2450000"/>
            <a:ext cx="760000" cy="760000"/>
          </a:xfrm>
          <a:prstGeom prst="ellipse">
            <a:avLst/>
          </a:prstGeom>
          <a:solidFill>
            <a:srgbClr val="E5737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con 1" descr="Richer Datas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0" y="2615000"/>
            <a:ext cx="430000" cy="430000"/>
          </a:xfrm>
          <a:prstGeom prst="rect">
            <a:avLst/>
          </a:prstGeom>
        </p:spPr>
      </p:pic>
      <p:sp>
        <p:nvSpPr>
          <p:cNvPr id="22" name="Point 1"/>
          <p:cNvSpPr txBox="1"/>
          <p:nvPr/>
        </p:nvSpPr>
        <p:spPr>
          <a:xfrm>
            <a:off x="1750000" y="2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Richer Dataset: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larger, up-to-date data with more attributes such as processor, display, 5G and release year.</a:t>
            </a:r>
          </a:p>
        </p:txBody>
      </p:sp>
      <p:sp>
        <p:nvSpPr>
          <p:cNvPr id="23" name="Icon Circle 2"/>
          <p:cNvSpPr/>
          <p:nvPr/>
        </p:nvSpPr>
        <p:spPr>
          <a:xfrm>
            <a:off x="700000" y="3450000"/>
            <a:ext cx="760000" cy="76000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 2" descr="Live Data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00" y="3615000"/>
            <a:ext cx="430000" cy="430000"/>
          </a:xfrm>
          <a:prstGeom prst="rect">
            <a:avLst/>
          </a:prstGeom>
        </p:spPr>
      </p:pic>
      <p:sp>
        <p:nvSpPr>
          <p:cNvPr id="25" name="Point 2"/>
          <p:cNvSpPr txBox="1"/>
          <p:nvPr/>
        </p:nvSpPr>
        <p:spPr>
          <a:xfrm>
            <a:off x="1750000" y="3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Live Data: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collect prices and ratings from e-commerce sites to track price changes over time.</a:t>
            </a:r>
          </a:p>
        </p:txBody>
      </p:sp>
      <p:sp>
        <p:nvSpPr>
          <p:cNvPr id="26" name="Icon Circle 3"/>
          <p:cNvSpPr/>
          <p:nvPr/>
        </p:nvSpPr>
        <p:spPr>
          <a:xfrm>
            <a:off x="700000" y="4450000"/>
            <a:ext cx="760000" cy="7600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con 3" descr="Price Predic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00" y="4615000"/>
            <a:ext cx="430000" cy="430000"/>
          </a:xfrm>
          <a:prstGeom prst="rect">
            <a:avLst/>
          </a:prstGeom>
        </p:spPr>
      </p:pic>
      <p:sp>
        <p:nvSpPr>
          <p:cNvPr id="28" name="Point 3"/>
          <p:cNvSpPr txBox="1"/>
          <p:nvPr/>
        </p:nvSpPr>
        <p:spPr>
          <a:xfrm>
            <a:off x="1750000" y="4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Price Prediction: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apply machine learning models to predict smartphone price from specifications.</a:t>
            </a:r>
          </a:p>
        </p:txBody>
      </p:sp>
      <p:sp>
        <p:nvSpPr>
          <p:cNvPr id="29" name="Icon Circle 4"/>
          <p:cNvSpPr/>
          <p:nvPr/>
        </p:nvSpPr>
        <p:spPr>
          <a:xfrm>
            <a:off x="700000" y="5450000"/>
            <a:ext cx="760000" cy="76000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 4" descr="Value Score &amp; Cluster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00" y="5615000"/>
            <a:ext cx="430000" cy="430000"/>
          </a:xfrm>
          <a:prstGeom prst="rect">
            <a:avLst/>
          </a:prstGeom>
        </p:spPr>
      </p:pic>
      <p:sp>
        <p:nvSpPr>
          <p:cNvPr id="31" name="Point 4"/>
          <p:cNvSpPr txBox="1"/>
          <p:nvPr/>
        </p:nvSpPr>
        <p:spPr>
          <a:xfrm>
            <a:off x="1750000" y="5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Value Score &amp; Clustering: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rank phones by value and group them into budget, mid-range and flagship.</a:t>
            </a:r>
          </a:p>
        </p:txBody>
      </p:sp>
      <p:sp>
        <p:nvSpPr>
          <p:cNvPr id="32" name="Icon Circle 5"/>
          <p:cNvSpPr/>
          <p:nvPr/>
        </p:nvSpPr>
        <p:spPr>
          <a:xfrm>
            <a:off x="700000" y="6450000"/>
            <a:ext cx="760000" cy="7600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con 5" descr="Review Sentiment Analysi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00" y="6615000"/>
            <a:ext cx="430000" cy="430000"/>
          </a:xfrm>
          <a:prstGeom prst="rect">
            <a:avLst/>
          </a:prstGeom>
        </p:spPr>
      </p:pic>
      <p:sp>
        <p:nvSpPr>
          <p:cNvPr id="34" name="Point 5"/>
          <p:cNvSpPr txBox="1"/>
          <p:nvPr/>
        </p:nvSpPr>
        <p:spPr>
          <a:xfrm>
            <a:off x="1750000" y="6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Review Sentiment Analysis: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 customer reviews to make recommendations more reliable.</a:t>
            </a:r>
          </a:p>
        </p:txBody>
      </p:sp>
      <p:sp>
        <p:nvSpPr>
          <p:cNvPr id="35" name="Icon Circle 6"/>
          <p:cNvSpPr/>
          <p:nvPr/>
        </p:nvSpPr>
        <p:spPr>
          <a:xfrm>
            <a:off x="700000" y="7450000"/>
            <a:ext cx="760000" cy="7600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con 6" descr="Smarter Recommendation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00" y="7615000"/>
            <a:ext cx="430000" cy="430000"/>
          </a:xfrm>
          <a:prstGeom prst="rect">
            <a:avLst/>
          </a:prstGeom>
        </p:spPr>
      </p:pic>
      <p:sp>
        <p:nvSpPr>
          <p:cNvPr id="37" name="Point 6"/>
          <p:cNvSpPr txBox="1"/>
          <p:nvPr/>
        </p:nvSpPr>
        <p:spPr>
          <a:xfrm>
            <a:off x="1750000" y="7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Smarter Recommendations: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add more filters and side-by-side comparison of selected phones.</a:t>
            </a:r>
          </a:p>
        </p:txBody>
      </p:sp>
      <p:sp>
        <p:nvSpPr>
          <p:cNvPr id="38" name="Icon Circle 7"/>
          <p:cNvSpPr/>
          <p:nvPr/>
        </p:nvSpPr>
        <p:spPr>
          <a:xfrm>
            <a:off x="700000" y="8450000"/>
            <a:ext cx="760000" cy="76000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con 7" descr="Interactive Dashboard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000" y="8615000"/>
            <a:ext cx="430000" cy="430000"/>
          </a:xfrm>
          <a:prstGeom prst="rect">
            <a:avLst/>
          </a:prstGeom>
        </p:spPr>
      </p:pic>
      <p:sp>
        <p:nvSpPr>
          <p:cNvPr id="40" name="Point 7"/>
          <p:cNvSpPr txBox="1"/>
          <p:nvPr/>
        </p:nvSpPr>
        <p:spPr>
          <a:xfrm>
            <a:off x="1750000" y="8380000"/>
            <a:ext cx="15500000" cy="9000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>
              <a:lnSpc>
                <a:spcPts val="3100"/>
              </a:lnSpc>
            </a:pPr>
            <a:r>
              <a:rPr lang="en-US" sz="2800" b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Interactive Dashboard: </a:t>
            </a:r>
            <a:r>
              <a:rPr lang="en-US" sz="2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build a web app or dashboard (Streamlit / Power BI) for non-technical users.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3695700"/>
            <a:ext cx="14812545" cy="1947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65"/>
              </a:lnSpc>
              <a:spcBef>
                <a:spcPct val="0"/>
              </a:spcBef>
            </a:pPr>
            <a:r>
              <a:rPr lang="en-US" sz="13304" b="1" dirty="0">
                <a:solidFill>
                  <a:srgbClr val="000000"/>
                </a:solidFill>
                <a:latin typeface="Algerian" panose="04020705040A02060702" pitchFamily="82" charset="0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981</Words>
  <Application>Microsoft Office PowerPoint</Application>
  <PresentationFormat>Custom</PresentationFormat>
  <Paragraphs>238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Atkinson Hyperlegible Bold</vt:lpstr>
      <vt:lpstr>Aptos Bold</vt:lpstr>
      <vt:lpstr>Canva Sans</vt:lpstr>
      <vt:lpstr>Arial</vt:lpstr>
      <vt:lpstr>Canva Sans Bold</vt:lpstr>
      <vt:lpstr>Calibri</vt:lpstr>
      <vt:lpstr>Aptos</vt:lpstr>
      <vt:lpstr>Atkinson Hyperlegible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&amp; PROJECT OVERVIEW</dc:title>
  <dc:creator>MONIKA NAGESWARI</dc:creator>
  <cp:lastModifiedBy>25B11CS444</cp:lastModifiedBy>
  <cp:revision>1</cp:revision>
  <dcterms:created xsi:type="dcterms:W3CDTF">2006-08-16T00:00:00Z</dcterms:created>
  <dcterms:modified xsi:type="dcterms:W3CDTF">2026-09-30T15:49:46Z</dcterms:modified>
  <dc:identifier>DAHRzVjK_Pc</dc:identifier>
</cp:coreProperties>
</file>